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1"/>
  </p:notesMasterIdLst>
  <p:sldIdLst>
    <p:sldId id="256" r:id="rId3"/>
    <p:sldId id="257" r:id="rId4"/>
    <p:sldId id="258" r:id="rId5"/>
    <p:sldId id="259" r:id="rId6"/>
    <p:sldId id="286" r:id="rId7"/>
    <p:sldId id="260" r:id="rId8"/>
    <p:sldId id="262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334" r:id="rId3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922" autoAdjust="0"/>
  </p:normalViewPr>
  <p:slideViewPr>
    <p:cSldViewPr snapToGrid="0">
      <p:cViewPr varScale="1">
        <p:scale>
          <a:sx n="138" d="100"/>
          <a:sy n="138" d="100"/>
        </p:scale>
        <p:origin x="22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 分钟。全课 60 分钟。</a:t>
            </a:r>
          </a:p>
          <a:p>
            <a:r>
              <a:t>开场直接说今天的目标：一个节点读视频，另一个节点收到图像后显示。最后独立修改接收端。安装和测试视频生成放在课前。</a:t>
            </a:r>
          </a:p>
          <a:p>
            <a:r>
              <a:t>官方文档：https://docs.ros.org/en/jazzy/Tutorials.html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 分钟。全课 60 分钟。</a:t>
            </a:r>
          </a:p>
          <a:p>
            <a:r>
              <a:t>按五节说明课程安排，不要求背命令，先理解每一部分代码负责什么。</a:t>
            </a:r>
          </a:p>
          <a:p>
            <a:r>
              <a:t>官方文档：https://docs.ros.org/en/jazzy/Tutorials.html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建议用时：0.25 分钟。全课 60 分钟。</a:t>
            </a:r>
          </a:p>
          <a:p>
            <a:r>
              <a:t>从普通程序逐渐增加功能的情形切入。</a:t>
            </a:r>
          </a:p>
          <a:p>
            <a:r>
              <a:t>官方文档：https://docs.ros.org/en/jazzy/Tutorials.html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 分钟。全课 60 分钟。</a:t>
            </a:r>
          </a:p>
          <a:p>
            <a:r>
              <a:t>结合读取、处理、显示分工讨论扩展与调试。普通程序也可以用良好结构解决这些问题，ROS 2 提供统一接口和工具减少重复工作。</a:t>
            </a:r>
          </a:p>
          <a:p>
            <a:r>
              <a:t>官方文档：https://docs.ros.org/en/jazzy/Tutorials.html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5F2D-AFB7-4198-513F-A62F41BA9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7F1B1C-6381-D07E-7CE1-FC55FF143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B539E1-1803-F5C8-CBD0-5A665D8E6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建议用时：3.5 分钟。全课 60 分钟。</a:t>
            </a:r>
          </a:p>
          <a:p>
            <a:r>
              <a:t>用已有图像话题新增显示节点，说明减少原模块修改的价值。强调消息接口不会自动解决所有死锁或共享数据竞争；并发仍需正确设计。</a:t>
            </a:r>
          </a:p>
          <a:p>
            <a:r>
              <a:t>官方文档：https://docs.ros.org/en/jazzy/Tutorials.html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36B1D-A193-33AC-C992-518C1CE720B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7525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 分钟。全课 60 分钟。</a:t>
            </a:r>
          </a:p>
          <a:p>
            <a:r>
              <a:t>node/topic 查看运行情况，Launch 组织启动，bag 记录输入。本课集中演示 topic 与 launch，bag 只解释用途。</a:t>
            </a:r>
          </a:p>
          <a:p>
            <a:r>
              <a:t>官方文档：https://docs.ros.org/en/jazzy/Tutorials.html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建议用时：0.25 分钟。全课 60 分钟。</a:t>
            </a:r>
          </a:p>
          <a:p>
            <a:r>
              <a:t>介绍工作空间与包，区分练习目录和完整例程。</a:t>
            </a:r>
          </a:p>
          <a:p>
            <a:r>
              <a:t>官方文档：https://docs.ros.org/en/jazzy/Tutorials.html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 分钟。全课 60 分钟。</a:t>
            </a:r>
          </a:p>
          <a:p>
            <a:r>
              <a:t>先 source /opt/ros/jazzy/setup.bash，再按页面在 ~/xinhuo_ros2/src 创建 test_package。它是空的练习包。接下来的两个视频包位于另一个工作空间 ~/xinhuo_example，不要在里面重复建同名包。</a:t>
            </a:r>
          </a:p>
          <a:p>
            <a:r>
              <a:t>官方文档：https://docs.ros.org/en/jazzy/Tutorials.html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 分钟。全课 60 分钟。</a:t>
            </a:r>
          </a:p>
          <a:p>
            <a:r>
              <a:t>课前在 ~/xinhuo_example 执行 python3 scripts/make_video.py 生成视频，再编译。授课时切到该目录，按页面编译。两个终端先 source scripts/env.sh，之后页面命令可以直接运行。可执行程序名按课件使用 videor_reader 和 videor_viewer。默认循环播放测试视频。</a:t>
            </a:r>
          </a:p>
          <a:p>
            <a:r>
              <a:t>官方文档：https://docs.ros.org/en/jazzy/Tutorials.html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建议用时：0.25 分钟。全课 60 分钟。</a:t>
            </a:r>
          </a:p>
          <a:p>
            <a:r>
              <a:t>接下来打开真实 C++ 源码，对应看构造函数和 main。</a:t>
            </a:r>
          </a:p>
          <a:p>
            <a:r>
              <a:t>官方文档：https://docs.ros.org/en/jazzy/Tutorials.html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 分钟。全课 60 分钟。</a:t>
            </a:r>
          </a:p>
          <a:p>
            <a:r>
              <a:t>class 与继承都是 C++ 语法。两个独立可执行程序都使用 XinhuoRos 作为类名，运行时节点名分别设置为 video_reader 和 video_viewer。页面中的 xinhuo_ros 是讲语法时使用的示例节点名。包、可执行程序、类、运行时节点需要区分。</a:t>
            </a:r>
          </a:p>
          <a:p>
            <a:r>
              <a:t>官方文档：https://docs.ros.org/en/jazzy/Tutorials.html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建议用时：2.25 分钟。全课 60 分钟。</a:t>
            </a:r>
          </a:p>
          <a:p>
            <a:r>
              <a:t>init 初始化，创建对象时登记定时器或订阅，spin 等待并执行回调，最后 shutdown。两个进程各有自己的单线程执行器；多节点本身不等于多线程。</a:t>
            </a:r>
          </a:p>
          <a:p>
            <a:r>
              <a:t>官方文档：https://docs.ros.org/en/jazzy/Tutorials.html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 分钟。</a:t>
            </a:r>
          </a:p>
          <a:p>
            <a:r>
              <a:t>读 video_reader.cpp 的构造函数。Image 是 sensor_msgs::msg::Image 的别名，模板参数填写消息类型。create_publisher 设置话题和 QoS，create_wall_timer 登记定时回调。fps 默认取视频帧率，测试视频为 20 FPS。publish_frame 每次读取一帧，视频末尾默认回到开头。</a:t>
            </a:r>
          </a:p>
          <a:p>
            <a:r>
              <a:t>官方文档：https://docs.ros.org/en/jazzy/Tutorials/Beginner-Client-Libraries/Writing-A-Simple-Cpp-Publisher-And-Subscriber.html</a:t>
            </a:r>
          </a:p>
          <a:p>
            <a:r>
              <a:t>配套工作空间：xinhuo_example。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 分钟。</a:t>
            </a:r>
          </a:p>
          <a:p>
            <a:r>
              <a:t>打开 video_viewer.cpp。create_subscription 的最后一个参数是一个 lambda，收到图像时调用 on_image。这里只登记函数，不会立即显示图像。[this] 让 lambda 可以访问当前对象。message 是这一次收到的图像消息。</a:t>
            </a:r>
          </a:p>
          <a:p>
            <a:r>
              <a:t>官方文档：https://docs.ros.org/en/jazzy/Tutorials/Beginner-Client-Libraries/Writing-A-Simple-Cpp-Publisher-And-Subscriber.html</a:t>
            </a:r>
          </a:p>
          <a:p>
            <a:r>
              <a:t>配套工作空间：xinhuo_example。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 分钟。</a:t>
            </a:r>
          </a:p>
          <a:p>
            <a:r>
              <a:t>接着上一页说明回调执行后要返回。本例每个进程使用单线程 spin，GUI 定时器与图像回调在主线程依次执行。waitKey(1) 处理窗口事件，waitKey(0) 会阻塞。补充前面优势页：ROS 2 的消息接口有助于分工，但不会自动解决共享数据竞争或死锁。</a:t>
            </a:r>
          </a:p>
          <a:p>
            <a:r>
              <a:t>官方文档：https://docs.ros.org/en/jazzy/Concepts/Intermediate/About-Executors.html</a:t>
            </a:r>
          </a:p>
          <a:p>
            <a:r>
              <a:t>配套工作空间：xinhuo_example。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建议用时：0.25 分钟。</a:t>
            </a:r>
          </a:p>
          <a:p>
            <a:r>
              <a:t>把代码中的 publisher 和 subscription 对应到图像话题。</a:t>
            </a:r>
          </a:p>
          <a:p>
            <a:r>
              <a:t>官方文档：https://docs.ros.org/en/jazzy/Tutorials/Beginner-CLI-Tools/Understanding-ROS2-Topics/Understanding-ROS2-Topics.html</a:t>
            </a:r>
          </a:p>
          <a:p>
            <a:r>
              <a:t>配套工作空间：xinhuo_example。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 分钟。</a:t>
            </a:r>
          </a:p>
          <a:p>
            <a:r>
              <a:t>本例只有一条图像话题 /image_raw。两个包不相互包含源码，也不直接调用对方函数。发布者只管发送，订阅者只管接收。图像类型包含像素、编码和尺寸，不能只约定一个话题名。</a:t>
            </a:r>
          </a:p>
          <a:p>
            <a:r>
              <a:t>官方文档：https://docs.ros.org/en/jazzy/p/sensor_msgs/msg/Image.html</a:t>
            </a:r>
          </a:p>
          <a:p>
            <a:r>
              <a:t>配套工作空间：xinhuo_example。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 分钟。</a:t>
            </a:r>
          </a:p>
          <a:p>
            <a:r>
              <a:t>两段代码分别位于两个节点中。读取节点的 frame 来自 capture_.read(frame)，消息编码为 bgr8。接收节点 toCvShare 在可能时共享只读图像，然后在回调里 imshow。实际代码有空帧检查、异常处理和 show_window 参数，这里突出转换与发布。</a:t>
            </a:r>
          </a:p>
          <a:p>
            <a:r>
              <a:t>官方文档：https://docs.ros.org/en/jazzy/p/cv_bridge/</a:t>
            </a:r>
          </a:p>
          <a:p>
            <a:r>
              <a:t>配套工作空间：xinhuo_example。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建议用时：2.5 分钟。</a:t>
            </a:r>
          </a:p>
          <a:p>
            <a:r>
              <a:t>本例使用 SensorDataQoS 再将队列改为 1。SensorDataQoS 默认深度为 5，keep_last(1) 才将它改为 1。深度 1 减少排队，但不保证零延迟。Best Effort 允许丢帧，适合预览；Reliable 提供可靠交付机制，也不等于无限缓存或永不丢业务数据。</a:t>
            </a:r>
          </a:p>
          <a:p>
            <a:r>
              <a:t>官方文档：https://docs.ros.org/en/jazzy/Concepts/Intermediate/About-Quality-of-Service-Settings.html</a:t>
            </a:r>
          </a:p>
          <a:p>
            <a:r>
              <a:t>配套工作空间：xinhuo_example。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建议用时：1.5 分钟。</a:t>
            </a:r>
          </a:p>
          <a:p>
            <a:r>
              <a:t>按照发布端提供、订阅端要求解释表格。这里只比较 Reliability，其他影响兼容性的设置保持一致。Best Effort 发布者无法满足 Reliable 订阅者。</a:t>
            </a:r>
          </a:p>
          <a:p>
            <a:r>
              <a:t>官方文档：https://docs.ros.org/en/jazzy/Concepts/Intermediate/About-Quality-of-Service-Settings.html</a:t>
            </a:r>
          </a:p>
          <a:p>
            <a:r>
              <a:t>配套工作空间：xinhuo_example。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建议用时：2.5 分钟。</a:t>
            </a:r>
          </a:p>
          <a:p>
            <a:r>
              <a:t>第三个终端进入 xinhuo_example 并 source scripts/env.sh。先列出话题，再查看类型、发布者和订阅者，最后看频率或一条消息。hz 测到的是这个工具实际收到的频率。--no-arr 不显示像素数组，避免终端刷屏。</a:t>
            </a:r>
          </a:p>
          <a:p>
            <a:r>
              <a:t>官方文档：https://docs.ros.org/en/jazzy/Tutorials/Beginner-CLI-Tools/Understanding-ROS2-Topics/Understanding-ROS2-Topics.html</a:t>
            </a:r>
          </a:p>
          <a:p>
            <a:r>
              <a:t>配套工作空间：xinhuo_example。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 分钟。</a:t>
            </a:r>
          </a:p>
          <a:p>
            <a:r>
              <a:t>读视频节点继续运行，先 Ctrl+C 停止原显示节点，再用 use_reliable:=true 重启。窗口没有画面，Received 日志也不出现。topic list 仍然看得到 /image_raw。用 info --verbose 对比 Best Effort 发布者与 Reliable 订阅者，再恢复默认。</a:t>
            </a:r>
          </a:p>
          <a:p>
            <a:r>
              <a:t>官方文档：https://docs.ros.org/en/jazzy/Concepts/Intermediate/About-Quality-of-Service-Settings.html</a:t>
            </a:r>
          </a:p>
          <a:p>
            <a:r>
              <a:t>配套工作空间：xinhuo_example。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建议用时：0.25 分钟。</a:t>
            </a:r>
          </a:p>
          <a:p>
            <a:r>
              <a:t>从分开启动两个程序过渡到统一启动。</a:t>
            </a:r>
          </a:p>
          <a:p>
            <a:r>
              <a:t>官方文档：https://docs.ros.org/en/jazzy/Tutorials/Intermediate/Launch/Creating-Launch-Files.html</a:t>
            </a:r>
          </a:p>
          <a:p>
            <a:r>
              <a:t>配套工作空间：xinhuo_example。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 分钟。</a:t>
            </a:r>
          </a:p>
          <a:p>
            <a:r>
              <a:t>打开 video_viewer/launch/demo.launch.py，代码与页面相同。package 是包名，executable 是 CMake 定义并安装的程序名。启动文件用 Python，两个业务节点仍然是 C++。顺序写在前面不保证先完成初始化，默认循环视频允许显示节点稍后加入。</a:t>
            </a:r>
          </a:p>
          <a:p>
            <a:r>
              <a:t>官方文档：https://docs.ros.org/en/jazzy/Tutorials/Intermediate/Launch/Creating-Launch-Files.html</a:t>
            </a:r>
          </a:p>
          <a:p>
            <a:r>
              <a:t>配套工作空间：xinhuo_example。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 分钟。</a:t>
            </a:r>
          </a:p>
          <a:p>
            <a:r>
              <a:t>先停止手动运行的两个节点，再运行 demo.launch.py。一个 Ctrl+C 停止整组。下面单独运行读取节点的命令展示修改视频路径和发布频率，先停止 launch 再演示，显示节点另开终端启动。配置启动参数不需重新编译，需重启才生效。configured.launch.py 是课后扩展。</a:t>
            </a:r>
          </a:p>
          <a:p>
            <a:r>
              <a:t>官方文档：https://docs.ros.org/en/jazzy/Tutorials/Intermediate/Launch/Creating-Launch-Files.html</a:t>
            </a:r>
          </a:p>
          <a:p>
            <a:r>
              <a:t>配套工作空间：xinhuo_example。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 分钟。</a:t>
            </a:r>
          </a:p>
          <a:p>
            <a:r>
              <a:t>只改 video_viewer.cpp 中 on_image 的显示段。cv::cvtColor 得到灰度图，读取节点仍然发送 bgr8。停止显示节点，编译 video_viewer，source 后重启。验证画面变灰，再用 topic echo 确认 /image_raw 的 encoding 仍是 bgr8。</a:t>
            </a:r>
          </a:p>
          <a:p>
            <a:r>
              <a:t>官方文档：https://docs.ros.org/en/jazzy/p/cv_bridge/</a:t>
            </a:r>
          </a:p>
          <a:p>
            <a:r>
              <a:t>配套工作空间：xinhuo_example。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 分钟。</a:t>
            </a:r>
          </a:p>
          <a:p>
            <a:r>
              <a:t>用现象查对应环节。无视频先确认课前 make_video.py 运行且随后编译；只有空窗口查话题、QoS 和日志；窗口故障查桌面环境和事件处理。避免重复启动同名节点。</a:t>
            </a:r>
          </a:p>
          <a:p>
            <a:r>
              <a:t>官方文档：https://docs.ros.org/en/jazzy/Tutorials/Beginner-CLI-Tools/Understanding-ROS2-Topics/Understanding-ROS2-Topics.html</a:t>
            </a:r>
          </a:p>
          <a:p>
            <a:r>
              <a:t>配套工作空间：xinhuo_example。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回到最初的传统视觉处理思路，请学生说明各处理步骤利用了什么信息，以及新输入下应先检查哪张中间图。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CFFD2D-EAC5-49CB-934D-187E1EB3D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44AC14-F3F7-4A47-AF47-AE4AE32C1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19145A-9950-43B2-93C6-EFCA1A2F551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6F7B7C7-6F16-43A8-8317-4FC5E06BBC28}" type="datetimeFigureOut">
              <a:t>2026/10/7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F7FB37-4678-42CF-8DDE-32E594218D2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8701DE-4B27-4C07-AA9F-6EA382365E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6EF89D-3484-40CF-90A3-ECBDBE8443D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262DA-0D2E-48BD-B6B0-1A88C19C3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C98059-54AA-4E39-8BDD-47A28E913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2A5F98-41A3-47B2-8171-72C11374701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6F7B7C7-6F16-43A8-8317-4FC5E06BBC28}" type="datetimeFigureOut">
              <a:t>2026/10/7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B88650-12DC-46F7-A8F9-A02805EE262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90132C-3441-4B7B-91BA-9FFAC47A9B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6EF89D-3484-40CF-90A3-ECBDBE8443D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6B552B-9F31-4A58-83AB-98A974F3E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40EBFA-A079-4F47-97A7-86E3ABB6C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EBA4CF-52D7-4D9F-9FCD-51C0466243B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6F7B7C7-6F16-43A8-8317-4FC5E06BBC28}" type="datetimeFigureOut">
              <a:t>2026/10/7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654F43-BAEA-441E-82E9-58A88C7BFC5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6FAE-CB67-4654-9420-26B4B87807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6EF89D-3484-40CF-90A3-ECBDBE8443D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292521-9AA6-4749-BC5E-4E032E1A3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C6F074-4EE4-4303-973A-FB8F02FD8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55EF68-1E1C-4E7C-ADDA-DFC4A6D47A3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F1701D-BCD1-4A54-AB63-A2B7E21254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6F7B7C7-6F16-43A8-8317-4FC5E06BBC28}" type="datetimeFigureOut">
              <a:t>2026/10/7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07EE3A-F936-426E-9C30-B6009225AB5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DD4506-DA68-429C-828D-FFF5581348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6EF89D-3484-40CF-90A3-ECBDBE8443D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425217-73F5-40CE-A137-313D96E7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C619EF-FDDB-414A-B8F9-BC98A1CDB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31251B-312D-46B9-83DF-159D6702E84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C585A07-B84C-4E8B-A288-D075F26EF4C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FE5FDF7-EEAD-4A9D-9738-17AEDD1AD35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C5D9AAB-CBF2-466A-8AC0-544CE0E8ED4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6F7B7C7-6F16-43A8-8317-4FC5E06BBC28}" type="datetimeFigureOut">
              <a:t>2026/10/7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B9B9978-7B7E-4387-B491-40D3EAB8E2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AB66865-2920-4F96-88F4-5142EA05B4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6EF89D-3484-40CF-90A3-ECBDBE8443D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396C0-D4D1-4733-9DE0-3AF17F028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0A8BAB-8976-47B0-8119-697DB44B6E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6F7B7C7-6F16-43A8-8317-4FC5E06BBC28}" type="datetimeFigureOut">
              <a:t>2026/10/7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35F4008-419B-457C-8BAC-B4117EECC2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41A229-A0F2-48C4-A61D-2F7452B95A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6EF89D-3484-40CF-90A3-ECBDBE8443D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A86D93-54DA-450D-8DBB-673AEAEA26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6F7B7C7-6F16-43A8-8317-4FC5E06BBC28}" type="datetimeFigureOut">
              <a:t>2026/10/7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A22ED42-F1E7-45E5-9CB2-01B1E16099B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013ADE-1C3A-4E44-8EFA-A07310FD80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6EF89D-3484-40CF-90A3-ECBDBE8443D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727C89-5051-4B39-BB4B-1403ABE9E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372CC3-1876-41A8-A7F4-64D60BB45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9D52EE-32F4-4FD6-B5C9-8916A648EEF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EF10D7-3656-41B1-92E8-AE31042FC83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6F7B7C7-6F16-43A8-8317-4FC5E06BBC28}" type="datetimeFigureOut">
              <a:t>2026/10/7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B69AD8-4041-43D8-967D-691B1B10FA2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D76679-EF6F-4C5E-A482-42D6FD25F4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6EF89D-3484-40CF-90A3-ECBDBE8443D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670962-CB17-4D39-AA80-BEF367547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509FECD-8446-4E57-B930-C63D79C556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4EFF34-9A76-469F-B5D6-C19E9BAA80D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8AF46F-F34B-4842-8873-9EFD24E511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6F7B7C7-6F16-43A8-8317-4FC5E06BBC28}" type="datetimeFigureOut">
              <a:t>2026/10/7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BC9879-A200-4BED-AD38-16C47B6F5C8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D1AE64-8212-4527-A3A2-8FDB006DD6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6EF89D-3484-40CF-90A3-ECBDBE8443D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EEBFA-30DE-4B60-9FD6-7A5A04313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8592E0-758F-496D-874A-EB9BADE37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87AA6F-6265-4E57-9223-390A4836CB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6F7B7C7-6F16-43A8-8317-4FC5E06BBC28}" type="datetimeFigureOut">
              <a:t>2026/10/7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0E8FD6-F276-4B36-812B-0C2E8AE106D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BBBFBA-E212-40FC-9EC5-EC37B23C87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6EF89D-3484-40CF-90A3-ECBDBE8443D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971DACC-2C6D-492C-A7A0-44AED951C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ED4B15-071C-441F-94EB-B3FB5937B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4E4277-CED2-405B-A876-539EC83E3B5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6F7B7C7-6F16-43A8-8317-4FC5E06BBC28}" type="datetimeFigureOut">
              <a:t>2026/10/7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E2F384-D721-4FBA-B92F-9A6E56DAE54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C09165-FCB1-4A08-A7F8-85CE6484B5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6EF89D-3484-40CF-90A3-ECBDBE8443D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910675-8895-4C0F-AD2E-27A10601E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buNone/>
              <a:defRPr sz="45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57ECF91-6ADA-45E6-A00A-C045FCBA2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3C2C0F-A973-4E76-A166-0892001F480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788AA0F-6AA5-42A0-94A7-CBBA0283C967}" type="datetimeFigureOut">
              <a:t>2026/10/7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F2CC08-E255-47F8-94C8-12271C8BD6C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571B05-4365-4F37-A6DE-AF66971AD0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1E90-B995-4DA3-8A70-CAE3B6CF94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97ADDD-27D6-414E-B528-EA38867FC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5A88E5-2085-4636-B846-BABF7FB81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A7C4BA-5422-4E33-AB03-5FCEFEF9369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788AA0F-6AA5-42A0-94A7-CBBA0283C967}" type="datetimeFigureOut">
              <a:t>2026/10/7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9E1158-B7CF-44CB-8542-D15A1968FD0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1CD4E6-394D-44C1-A140-099940A53A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1E90-B995-4DA3-8A70-CAE3B6CF94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ED5FCB-A519-4C37-ABAD-D35D6400E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buNone/>
              <a:defRPr sz="45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DB7484-2429-4349-AC57-3C31BC600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5D90C6-7BED-474F-B853-1B2EC4023A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788AA0F-6AA5-42A0-94A7-CBBA0283C967}" type="datetimeFigureOut">
              <a:t>2026/10/7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A98EB2-590E-4D73-9B34-1F9781FA33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C900F9-77E1-4542-A081-F32EB5869B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1E90-B995-4DA3-8A70-CAE3B6CF94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792D4E-4C7F-4064-8F43-889123B3C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8E3BE7-1CCF-46E6-A49B-A09EE08D9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4578B5-B4E3-4D2C-9055-ACE9FF547F7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74CF98-38A6-4288-B12E-F4665B3F35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788AA0F-6AA5-42A0-94A7-CBBA0283C967}" type="datetimeFigureOut">
              <a:t>2026/10/7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E11A17-26E1-4908-BE16-3379E945F9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CE7AC8-97F9-43BB-AA01-8B1115020D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1E90-B995-4DA3-8A70-CAE3B6CF94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F13A8C-E121-4B92-AD47-AB933AB1A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BA09EF-81E0-4179-8780-8E94CCE66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67B5B0-2B3A-460E-ACF4-308151BD393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24D539-BEBC-41FF-B731-37BCA9AD47F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1B00843-8B4C-4EE6-9ABB-DA378666F42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B398B8-F03B-4C81-8CCF-553E54C4A6F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788AA0F-6AA5-42A0-94A7-CBBA0283C967}" type="datetimeFigureOut">
              <a:t>2026/10/7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1B96188-2D43-42A6-B544-63B70928E7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54DF818-B347-4626-B416-8690E5C9CE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1E90-B995-4DA3-8A70-CAE3B6CF94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CAD50A-4990-4A56-9BF2-6017697EC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B4F388-0D8F-4958-98A2-242728B0416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788AA0F-6AA5-42A0-94A7-CBBA0283C967}" type="datetimeFigureOut">
              <a:t>2026/10/7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4DF9832-0D89-46B3-AB64-95463E7F950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A3DF1E-EF8F-4F31-8728-7CB9387D45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1E90-B995-4DA3-8A70-CAE3B6CF94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3A7388-FC9F-4965-B137-DB1374181C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788AA0F-6AA5-42A0-94A7-CBBA0283C967}" type="datetimeFigureOut">
              <a:t>2026/10/7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81C647-434A-42E5-9598-517DB19DDE0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CBD61D-9ED9-4197-98C8-FD21AA9A58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1E90-B995-4DA3-8A70-CAE3B6CF94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A58F53-86D2-47A2-91DA-11982A71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97AA36-1523-4E8E-9E6B-6CD33AE04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E878B3-6B20-4FDF-8E56-DFDD7EF05F8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31AA08-E34F-4F24-8BF2-9021D7D7A5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788AA0F-6AA5-42A0-94A7-CBBA0283C967}" type="datetimeFigureOut">
              <a:t>2026/10/7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40FF12-E7D8-4F41-98F8-B7519A5EC9D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DE992A-C546-48DA-8F09-0EF3AEEE1C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1E90-B995-4DA3-8A70-CAE3B6CF94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FE6FB-B4A0-4514-B77A-0F1103CAC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44EB677-927F-4514-9D84-9F1DB914C9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A3F77F-F90C-44EC-9CD0-E427B1304E5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BFFE21-3AF8-422D-9C2A-2BC50ADE53B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788AA0F-6AA5-42A0-94A7-CBBA0283C967}" type="datetimeFigureOut">
              <a:t>2026/10/7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9030C2-ED77-4A5E-9386-6B8C4594840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57CBEB-F686-48C7-9643-A8E5184920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1E90-B995-4DA3-8A70-CAE3B6CF94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06D4EE-C003-4CFE-82D7-9AF13FF41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C394E6-30DB-4551-95EA-CC9E39B26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CA6AEB-4325-4FA7-892B-8257E61856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788AA0F-6AA5-42A0-94A7-CBBA0283C967}" type="datetimeFigureOut">
              <a:t>2026/10/7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72F7A3-6C0B-4A64-B38B-8E8E4693260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86D646-2F96-4889-9F02-CBD28398E4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1E90-B995-4DA3-8A70-CAE3B6CF94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D0ADAEA-F1B2-4A75-876D-B70707BF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5983B0-EC51-4E03-B089-B4C923B55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194C26-BDAC-4B02-B5C4-73814D9DB95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788AA0F-6AA5-42A0-94A7-CBBA0283C967}" type="datetimeFigureOut">
              <a:t>2026/10/7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158E8C-9D58-4210-8E40-D489935740D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68E944-6813-4077-88E0-D69480F438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1E90-B995-4DA3-8A70-CAE3B6CF94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69AA05A-C95B-4165-9AD9-EF0AA1C77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60FA13-99E9-4F16-AC1A-270632A71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462BD5-3B14-46BE-AB2F-57D23085FAA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7B7C7-6F16-43A8-8317-4FC5E06BBC28}" type="datetimeFigureOut">
              <a:t>2026/10/7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CFEC6C-B195-4F3C-BA2D-D428294EA8B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865D60-9710-4468-8418-A3083A84BBB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EF89D-3484-40CF-90A3-ECBDBE8443D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4BF2F9A-D65A-4150-B978-4CB3BD967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6DB3A1-F615-474A-A978-30629E5C7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52DC84-AE36-4A1D-AAFB-5A8607487CA2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8AA0F-6AA5-42A0-94A7-CBBA0283C967}" type="datetimeFigureOut">
              <a:t>2026/10/7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0CDAC5-1D05-4BF5-BCCE-203E66F140E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62C73D-3025-402D-B246-E1A03D14E80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11E90-B995-4DA3-8A70-CAE3B6CF94A1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3"/>
          <p:cNvPicPr>
            <a:picLocks noChangeAspect="1"/>
          </p:cNvPicPr>
          <p:nvPr/>
        </p:nvPicPr>
        <p:blipFill rotWithShape="1">
          <a:blip r:embed="rId3"/>
          <a:srcRect l="5341" t="6828" r="1030"/>
          <a:stretch/>
        </p:blipFill>
        <p:spPr>
          <a:xfrm>
            <a:off x="-5156" y="0"/>
            <a:ext cx="9396536" cy="5194052"/>
          </a:xfrm>
          <a:prstGeom prst="rect">
            <a:avLst/>
          </a:prstGeom>
        </p:spPr>
      </p:pic>
      <p:sp>
        <p:nvSpPr>
          <p:cNvPr id="6" name="等腰三角形 5">
            <a:extLst>
              <a:ext uri="{FF2B5EF4-FFF2-40B4-BE49-F238E27FC236}">
                <a16:creationId xmlns:a16="http://schemas.microsoft.com/office/drawing/2014/main" id="{A7103B3A-DF5B-4000-94FE-3FADD5180432}"/>
              </a:ext>
            </a:extLst>
          </p:cNvPr>
          <p:cNvSpPr>
            <a:spLocks noGrp="1"/>
          </p:cNvSpPr>
          <p:nvPr/>
        </p:nvSpPr>
        <p:spPr>
          <a:xfrm rot="16200000" flipH="1">
            <a:off x="8081967" y="2103698"/>
            <a:ext cx="1693034" cy="936104"/>
          </a:xfrm>
          <a:prstGeom prst="triangle">
            <a:avLst/>
          </a:prstGeom>
          <a:solidFill>
            <a:srgbClr val="D20000"/>
          </a:solidFill>
          <a:ln>
            <a:solidFill>
              <a:srgbClr val="D2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五边形 7">
            <a:extLst>
              <a:ext uri="{FF2B5EF4-FFF2-40B4-BE49-F238E27FC236}">
                <a16:creationId xmlns:a16="http://schemas.microsoft.com/office/drawing/2014/main" id="{C4105646-654E-451F-A1B9-66A0545981BD}"/>
              </a:ext>
            </a:extLst>
          </p:cNvPr>
          <p:cNvSpPr>
            <a:spLocks noGrp="1"/>
          </p:cNvSpPr>
          <p:nvPr/>
        </p:nvSpPr>
        <p:spPr>
          <a:xfrm>
            <a:off x="-47726" y="0"/>
            <a:ext cx="5513260" cy="5194052"/>
          </a:xfrm>
          <a:prstGeom prst="homePlate">
            <a:avLst>
              <a:gd name="adj" fmla="val 21552"/>
            </a:avLst>
          </a:prstGeom>
          <a:solidFill>
            <a:schemeClr val="tx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6E61AB-34D5-4964-9B0B-8019C91CB3D7}"/>
              </a:ext>
            </a:extLst>
          </p:cNvPr>
          <p:cNvSpPr>
            <a:spLocks noGrp="1"/>
          </p:cNvSpPr>
          <p:nvPr/>
        </p:nvSpPr>
        <p:spPr>
          <a:xfrm>
            <a:off x="2959159" y="1428801"/>
            <a:ext cx="144016" cy="1008112"/>
          </a:xfrm>
          <a:prstGeom prst="rect">
            <a:avLst/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A128A0-6E45-454A-B03E-BC7E85CEC7B2}"/>
              </a:ext>
            </a:extLst>
          </p:cNvPr>
          <p:cNvSpPr>
            <a:spLocks noGrp="1"/>
          </p:cNvSpPr>
          <p:nvPr/>
        </p:nvSpPr>
        <p:spPr>
          <a:xfrm>
            <a:off x="3096426" y="1335880"/>
            <a:ext cx="2048766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机器人队</a:t>
            </a:r>
          </a:p>
          <a:p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Robotics  CLUB</a:t>
            </a:r>
          </a:p>
          <a:p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Dream Chaser</a:t>
            </a:r>
          </a:p>
          <a:p>
            <a:endParaRPr sz="36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BC372645-2725-4CD7-850F-F4AE5A799114}"/>
              </a:ext>
            </a:extLst>
          </p:cNvPr>
          <p:cNvSpPr>
            <a:spLocks noGrp="1"/>
          </p:cNvSpPr>
          <p:nvPr/>
        </p:nvSpPr>
        <p:spPr>
          <a:xfrm>
            <a:off x="1187624" y="2582807"/>
            <a:ext cx="342850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F359B9-981E-4FB6-9421-58EE6FF09E88}"/>
              </a:ext>
            </a:extLst>
          </p:cNvPr>
          <p:cNvSpPr>
            <a:spLocks noGrp="1"/>
          </p:cNvSpPr>
          <p:nvPr/>
        </p:nvSpPr>
        <p:spPr>
          <a:xfrm>
            <a:off x="582930" y="2778824"/>
            <a:ext cx="2602230" cy="5791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3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ROS 2 </a:t>
            </a:r>
            <a:r>
              <a:rPr lang="zh-CN" altLang="en-US" sz="32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</a:t>
            </a:r>
            <a:endParaRPr sz="3200" b="0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174795E-ABD6-44EA-A73F-F999EC2C5531}"/>
              </a:ext>
            </a:extLst>
          </p:cNvPr>
          <p:cNvSpPr>
            <a:spLocks noGrp="1"/>
          </p:cNvSpPr>
          <p:nvPr/>
        </p:nvSpPr>
        <p:spPr>
          <a:xfrm>
            <a:off x="514262" y="1063310"/>
            <a:ext cx="297761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0">
                <a:solidFill>
                  <a:schemeClr val="bg1"/>
                </a:solidFill>
                <a:latin typeface="Impact"/>
                <a:ea typeface="Impact"/>
                <a:cs typeface="Impact"/>
              </a:rPr>
              <a:t>2026</a:t>
            </a:r>
          </a:p>
        </p:txBody>
      </p:sp>
      <p:pic>
        <p:nvPicPr>
          <p:cNvPr id="35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7129" y="2258101"/>
            <a:ext cx="619407" cy="627298"/>
          </a:xfrm>
          <a:prstGeom prst="rect">
            <a:avLst/>
          </a:prstGeom>
        </p:spPr>
      </p:pic>
      <p:sp>
        <p:nvSpPr>
          <p:cNvPr id="4" name="文本框 1">
            <a:extLst>
              <a:ext uri="{FF2B5EF4-FFF2-40B4-BE49-F238E27FC236}">
                <a16:creationId xmlns:a16="http://schemas.microsoft.com/office/drawing/2014/main" id="{A9E6429E-A5FB-6ABF-8237-CAC16F440512}"/>
              </a:ext>
            </a:extLst>
          </p:cNvPr>
          <p:cNvSpPr>
            <a:spLocks noGrp="1"/>
          </p:cNvSpPr>
          <p:nvPr/>
        </p:nvSpPr>
        <p:spPr>
          <a:xfrm>
            <a:off x="582930" y="3895725"/>
            <a:ext cx="4191000" cy="57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主讲人：李浩铭</a:t>
            </a:r>
            <a:endParaRPr sz="1600" dirty="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时间：2026/10/</a:t>
            </a:r>
            <a:r>
              <a:rPr lang="en-US" sz="16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</a:t>
            </a:r>
            <a:endParaRPr dirty="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lesson-text">
            <a:extLst>
              <a:ext uri="{FF2B5EF4-FFF2-40B4-BE49-F238E27FC236}">
                <a16:creationId xmlns:a16="http://schemas.microsoft.com/office/drawing/2014/main" id="{E42ECB2B-0596-5A7E-18F6-2DC28B6CF95E}"/>
              </a:ext>
            </a:extLst>
          </p:cNvPr>
          <p:cNvSpPr>
            <a:spLocks noGrp="1"/>
          </p:cNvSpPr>
          <p:nvPr/>
        </p:nvSpPr>
        <p:spPr>
          <a:xfrm>
            <a:off x="582930" y="3390900"/>
            <a:ext cx="4191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算法组视觉培训</a:t>
            </a:r>
            <a:endParaRPr sz="1800" b="0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54194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65" y="153233"/>
            <a:ext cx="395424" cy="40046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7E06F2D-D8C9-3DA4-4E34-C69B3526808D}"/>
              </a:ext>
            </a:extLst>
          </p:cNvPr>
          <p:cNvSpPr>
            <a:spLocks noGrp="1"/>
          </p:cNvSpPr>
          <p:nvPr/>
        </p:nvSpPr>
        <p:spPr>
          <a:xfrm>
            <a:off x="1403648" y="350819"/>
            <a:ext cx="1729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None/>
            </a:pPr>
            <a:r>
              <a:rPr sz="1050">
                <a:solidFill>
                  <a:prstClr val="black"/>
                </a:solidFill>
                <a:latin typeface="Charlemagne Std"/>
                <a:ea typeface="Charlemagne Std"/>
                <a:cs typeface="Charlemagne Std"/>
              </a:rPr>
              <a:t> BIT Dream Chaser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292859-8F3E-9CD6-1815-165CECBA1CCB}"/>
              </a:ext>
            </a:extLst>
          </p:cNvPr>
          <p:cNvSpPr>
            <a:spLocks noGrp="1"/>
          </p:cNvSpPr>
          <p:nvPr/>
        </p:nvSpPr>
        <p:spPr>
          <a:xfrm>
            <a:off x="796648" y="153232"/>
            <a:ext cx="2767240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EFEDCB-7BB4-117F-27DC-C535FCE6A36D}"/>
              </a:ext>
            </a:extLst>
          </p:cNvPr>
          <p:cNvSpPr>
            <a:spLocks noGrp="1"/>
          </p:cNvSpPr>
          <p:nvPr/>
        </p:nvSpPr>
        <p:spPr>
          <a:xfrm>
            <a:off x="8460432" y="167196"/>
            <a:ext cx="683568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E3F00F-EC0F-F6FA-F695-1FAA9383A0E8}"/>
              </a:ext>
            </a:extLst>
          </p:cNvPr>
          <p:cNvSpPr>
            <a:spLocks noGrp="1"/>
          </p:cNvSpPr>
          <p:nvPr/>
        </p:nvSpPr>
        <p:spPr>
          <a:xfrm flipV="1">
            <a:off x="6840015" y="4939227"/>
            <a:ext cx="2303986" cy="204273"/>
          </a:xfrm>
          <a:prstGeom prst="rect">
            <a:avLst/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DC43EF-7288-3D6D-2169-D2B946B2A102}"/>
              </a:ext>
            </a:extLst>
          </p:cNvPr>
          <p:cNvSpPr>
            <a:spLocks noGrp="1"/>
          </p:cNvSpPr>
          <p:nvPr/>
        </p:nvSpPr>
        <p:spPr>
          <a:xfrm>
            <a:off x="1" y="4939309"/>
            <a:ext cx="6840014" cy="204192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1" name="标题 20">
            <a:extLst>
              <a:ext uri="{FF2B5EF4-FFF2-40B4-BE49-F238E27FC236}">
                <a16:creationId xmlns:a16="http://schemas.microsoft.com/office/drawing/2014/main" id="{F0A5FC05-514E-B29E-DCB7-8EBC41822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1425" y="180975"/>
            <a:ext cx="4610100" cy="552450"/>
          </a:xfr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>
                <a:solidFill>
                  <a:srgbClr val="C00000"/>
                </a:solidFill>
                <a:latin typeface="宋体"/>
                <a:ea typeface="宋体"/>
                <a:cs typeface="宋体"/>
              </a:defRPr>
            </a:pPr>
            <a:r>
              <a:rPr lang="zh-CN" altLang="en-US" sz="2100" b="0" dirty="0">
                <a:solidFill>
                  <a:srgbClr val="C00000"/>
                </a:solidFill>
                <a:latin typeface="宋体"/>
                <a:ea typeface="宋体"/>
                <a:cs typeface="宋体"/>
              </a:rPr>
              <a:t>目录</a:t>
            </a:r>
            <a:endParaRPr sz="2100" dirty="0">
              <a:solidFill>
                <a:srgbClr val="C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6" name="slide-number">
            <a:extLst>
              <a:ext uri="{FF2B5EF4-FFF2-40B4-BE49-F238E27FC236}">
                <a16:creationId xmlns:a16="http://schemas.microsoft.com/office/drawing/2014/main" id="{CC8C3C19-5C60-4C98-8B18-1887E7C937C7}"/>
              </a:ext>
            </a:extLst>
          </p:cNvPr>
          <p:cNvSpPr>
            <a:spLocks noGrp="1"/>
          </p:cNvSpPr>
          <p:nvPr/>
        </p:nvSpPr>
        <p:spPr>
          <a:xfrm>
            <a:off x="8562975" y="4962525"/>
            <a:ext cx="36195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3" name="01">
            <a:extLst>
              <a:ext uri="{FF2B5EF4-FFF2-40B4-BE49-F238E27FC236}">
                <a16:creationId xmlns:a16="http://schemas.microsoft.com/office/drawing/2014/main" id="{00828DAF-9D10-836C-D94C-65496395F809}"/>
              </a:ext>
            </a:extLst>
          </p:cNvPr>
          <p:cNvSpPr>
            <a:spLocks noGrp="1"/>
          </p:cNvSpPr>
          <p:nvPr/>
        </p:nvSpPr>
        <p:spPr>
          <a:xfrm>
            <a:off x="1597611" y="1104124"/>
            <a:ext cx="3162684" cy="91876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01</a:t>
            </a:r>
            <a:endParaRPr lang="en-US" sz="2400" b="1" dirty="0">
              <a:solidFill>
                <a:srgbClr val="203864"/>
              </a:solidFill>
              <a:latin typeface="微软雅黑"/>
              <a:ea typeface="微软雅黑"/>
              <a:cs typeface="微软雅黑"/>
            </a:endParaRPr>
          </a:p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00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为什么用 </a:t>
            </a:r>
            <a:r>
              <a:rPr lang="en-US" altLang="zh-CN" sz="200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ROS 2</a:t>
            </a:r>
          </a:p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endParaRPr sz="2250" b="1" dirty="0">
              <a:solidFill>
                <a:srgbClr val="20386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01">
            <a:extLst>
              <a:ext uri="{FF2B5EF4-FFF2-40B4-BE49-F238E27FC236}">
                <a16:creationId xmlns:a16="http://schemas.microsoft.com/office/drawing/2014/main" id="{63C3CFDC-F991-7AEF-D0E3-23B00CDCA11E}"/>
              </a:ext>
            </a:extLst>
          </p:cNvPr>
          <p:cNvSpPr>
            <a:spLocks noGrp="1"/>
          </p:cNvSpPr>
          <p:nvPr/>
        </p:nvSpPr>
        <p:spPr>
          <a:xfrm>
            <a:off x="4760295" y="1695622"/>
            <a:ext cx="3162684" cy="91876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en-US" sz="2400" b="1" dirty="0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2</a:t>
            </a:r>
          </a:p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00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创建包并运行程序</a:t>
            </a:r>
          </a:p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endParaRPr sz="2250" b="1" dirty="0">
              <a:solidFill>
                <a:srgbClr val="20386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35C78522-1ADE-29B2-0618-668967742B7F}"/>
              </a:ext>
            </a:extLst>
          </p:cNvPr>
          <p:cNvSpPr>
            <a:spLocks noGrp="1"/>
          </p:cNvSpPr>
          <p:nvPr/>
        </p:nvSpPr>
        <p:spPr>
          <a:xfrm>
            <a:off x="1597611" y="2201845"/>
            <a:ext cx="3162684" cy="91876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en-US" sz="2400" b="1" dirty="0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3</a:t>
            </a:r>
          </a:p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00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节点与回调</a:t>
            </a:r>
          </a:p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endParaRPr sz="2250" b="1" dirty="0">
              <a:solidFill>
                <a:srgbClr val="20386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01">
            <a:extLst>
              <a:ext uri="{FF2B5EF4-FFF2-40B4-BE49-F238E27FC236}">
                <a16:creationId xmlns:a16="http://schemas.microsoft.com/office/drawing/2014/main" id="{3B5EA934-9E7E-DB26-E472-6E206CF35AFC}"/>
              </a:ext>
            </a:extLst>
          </p:cNvPr>
          <p:cNvSpPr>
            <a:spLocks noGrp="1"/>
          </p:cNvSpPr>
          <p:nvPr/>
        </p:nvSpPr>
        <p:spPr>
          <a:xfrm>
            <a:off x="4760295" y="2787513"/>
            <a:ext cx="3162684" cy="91876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en-US" sz="2400" b="1" dirty="0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4</a:t>
            </a:r>
          </a:p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200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Topic</a:t>
            </a:r>
            <a:r>
              <a:rPr lang="zh-CN" altLang="en-US" sz="200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、图像与 </a:t>
            </a:r>
            <a:r>
              <a:rPr lang="en-US" altLang="zh-CN" sz="200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QoS</a:t>
            </a:r>
          </a:p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endParaRPr sz="2250" b="1" dirty="0">
              <a:solidFill>
                <a:srgbClr val="20386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01">
            <a:extLst>
              <a:ext uri="{FF2B5EF4-FFF2-40B4-BE49-F238E27FC236}">
                <a16:creationId xmlns:a16="http://schemas.microsoft.com/office/drawing/2014/main" id="{ED18122E-9E8F-3DB5-60B3-8F12EE972C72}"/>
              </a:ext>
            </a:extLst>
          </p:cNvPr>
          <p:cNvSpPr>
            <a:spLocks noGrp="1"/>
          </p:cNvSpPr>
          <p:nvPr/>
        </p:nvSpPr>
        <p:spPr>
          <a:xfrm>
            <a:off x="1597611" y="3299566"/>
            <a:ext cx="3162684" cy="91876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en-US" sz="2400" b="1" dirty="0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5</a:t>
            </a:r>
          </a:p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200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Launch </a:t>
            </a:r>
            <a:r>
              <a:rPr lang="zh-CN" altLang="en-US" sz="200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与动手修改</a:t>
            </a:r>
          </a:p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endParaRPr sz="2250" b="1" dirty="0">
              <a:solidFill>
                <a:srgbClr val="203864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44966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9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3"/>
          <p:cNvPicPr>
            <a:picLocks noChangeAspect="1"/>
          </p:cNvPicPr>
          <p:nvPr/>
        </p:nvPicPr>
        <p:blipFill rotWithShape="1">
          <a:blip r:embed="rId3"/>
          <a:srcRect l="4578" r="11925" b="8088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6" name="等腰三角形 5">
            <a:extLst>
              <a:ext uri="{FF2B5EF4-FFF2-40B4-BE49-F238E27FC236}">
                <a16:creationId xmlns:a16="http://schemas.microsoft.com/office/drawing/2014/main" id="{1271CB4A-830F-4D32-95E7-0248603F3C32}"/>
              </a:ext>
            </a:extLst>
          </p:cNvPr>
          <p:cNvSpPr>
            <a:spLocks noGrp="1"/>
          </p:cNvSpPr>
          <p:nvPr/>
        </p:nvSpPr>
        <p:spPr>
          <a:xfrm rot="10800000" flipH="1" flipV="1">
            <a:off x="0" y="3507854"/>
            <a:ext cx="2555776" cy="1656184"/>
          </a:xfrm>
          <a:prstGeom prst="triangle">
            <a:avLst>
              <a:gd name="adj" fmla="val 50259"/>
            </a:avLst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B4B2987D-4CDF-4827-9F87-AFAF9C9B3DA3}"/>
              </a:ext>
            </a:extLst>
          </p:cNvPr>
          <p:cNvSpPr>
            <a:spLocks noGrp="1"/>
          </p:cNvSpPr>
          <p:nvPr/>
        </p:nvSpPr>
        <p:spPr>
          <a:xfrm>
            <a:off x="1675116" y="267494"/>
            <a:ext cx="7468884" cy="4896544"/>
          </a:xfrm>
          <a:prstGeom prst="triangle">
            <a:avLst>
              <a:gd name="adj" fmla="val 48962"/>
            </a:avLst>
          </a:prstGeom>
          <a:solidFill>
            <a:schemeClr val="tx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34F1BDC-9F04-4853-89EF-2A27C134AAF2}"/>
              </a:ext>
            </a:extLst>
          </p:cNvPr>
          <p:cNvSpPr>
            <a:spLocks noGrp="1"/>
          </p:cNvSpPr>
          <p:nvPr/>
        </p:nvSpPr>
        <p:spPr>
          <a:xfrm>
            <a:off x="5004048" y="1594123"/>
            <a:ext cx="727404" cy="727404"/>
          </a:xfrm>
          <a:prstGeom prst="ellipse">
            <a:avLst/>
          </a:prstGeom>
          <a:noFill/>
          <a:ln>
            <a:solidFill>
              <a:srgbClr val="D2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A68CC3-60BD-4A89-AE05-9B053A9C88C4}"/>
              </a:ext>
            </a:extLst>
          </p:cNvPr>
          <p:cNvSpPr>
            <a:spLocks noGrp="1"/>
          </p:cNvSpPr>
          <p:nvPr/>
        </p:nvSpPr>
        <p:spPr>
          <a:xfrm>
            <a:off x="5220072" y="1635646"/>
            <a:ext cx="553818" cy="7994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4000" b="0">
                <a:solidFill>
                  <a:srgbClr val="D20000"/>
                </a:solidFill>
                <a:latin typeface="Impact"/>
                <a:ea typeface="Impact"/>
                <a:cs typeface="Impact"/>
              </a:defRPr>
            </a:pPr>
            <a:r>
              <a:rPr sz="4000" b="0">
                <a:solidFill>
                  <a:srgbClr val="D20000"/>
                </a:solidFill>
                <a:latin typeface="Impact"/>
                <a:ea typeface="Impact"/>
                <a:cs typeface="Impact"/>
              </a:rPr>
              <a:t>1</a:t>
            </a:r>
            <a:endParaRPr sz="4000">
              <a:solidFill>
                <a:srgbClr val="D20000"/>
              </a:solidFill>
              <a:latin typeface="Impact"/>
              <a:ea typeface="Impact"/>
              <a:cs typeface="Impac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B8E7DDD-8590-4E79-9960-580910E39DC4}"/>
              </a:ext>
            </a:extLst>
          </p:cNvPr>
          <p:cNvSpPr>
            <a:spLocks noGrp="1"/>
          </p:cNvSpPr>
          <p:nvPr/>
        </p:nvSpPr>
        <p:spPr>
          <a:xfrm>
            <a:off x="3238500" y="2647950"/>
            <a:ext cx="4543425" cy="561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pPr algn="ctr">
              <a:buNone/>
              <a:defRPr sz="29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为什么使用</a:t>
            </a:r>
            <a:r>
              <a:rPr sz="2925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ROS 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EDA5A8-CFF1-4DC1-A306-CA155186875C}"/>
              </a:ext>
            </a:extLst>
          </p:cNvPr>
          <p:cNvSpPr>
            <a:spLocks noGrp="1"/>
          </p:cNvSpPr>
          <p:nvPr/>
        </p:nvSpPr>
        <p:spPr>
          <a:xfrm>
            <a:off x="3238500" y="3267075"/>
            <a:ext cx="3319780" cy="3314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WHY ROS 2</a:t>
            </a:r>
            <a:endParaRPr dirty="0">
              <a:solidFill>
                <a:schemeClr val="bg2">
                  <a:lumMod val="90000"/>
                </a:schemeClr>
              </a:solidFill>
              <a:latin typeface="Courier New"/>
              <a:ea typeface="Courier New"/>
              <a:cs typeface="Courier New"/>
            </a:endParaRPr>
          </a:p>
        </p:txBody>
      </p:sp>
      <p:pic>
        <p:nvPicPr>
          <p:cNvPr id="25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57" y="4155926"/>
            <a:ext cx="790459" cy="8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42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65" y="153233"/>
            <a:ext cx="395424" cy="40046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7E06F2D-D8C9-3DA4-4E34-C69B3526808D}"/>
              </a:ext>
            </a:extLst>
          </p:cNvPr>
          <p:cNvSpPr>
            <a:spLocks noGrp="1"/>
          </p:cNvSpPr>
          <p:nvPr/>
        </p:nvSpPr>
        <p:spPr>
          <a:xfrm>
            <a:off x="1403648" y="350819"/>
            <a:ext cx="1729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None/>
            </a:pPr>
            <a:r>
              <a:rPr sz="1050">
                <a:solidFill>
                  <a:prstClr val="black"/>
                </a:solidFill>
                <a:latin typeface="Charlemagne Std"/>
                <a:ea typeface="Charlemagne Std"/>
                <a:cs typeface="Charlemagne Std"/>
              </a:rPr>
              <a:t> BIT Dream Chaser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292859-8F3E-9CD6-1815-165CECBA1CCB}"/>
              </a:ext>
            </a:extLst>
          </p:cNvPr>
          <p:cNvSpPr>
            <a:spLocks noGrp="1"/>
          </p:cNvSpPr>
          <p:nvPr/>
        </p:nvSpPr>
        <p:spPr>
          <a:xfrm>
            <a:off x="796648" y="153232"/>
            <a:ext cx="2767240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EFEDCB-7BB4-117F-27DC-C535FCE6A36D}"/>
              </a:ext>
            </a:extLst>
          </p:cNvPr>
          <p:cNvSpPr>
            <a:spLocks noGrp="1"/>
          </p:cNvSpPr>
          <p:nvPr/>
        </p:nvSpPr>
        <p:spPr>
          <a:xfrm>
            <a:off x="8460432" y="167196"/>
            <a:ext cx="683568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E3F00F-EC0F-F6FA-F695-1FAA9383A0E8}"/>
              </a:ext>
            </a:extLst>
          </p:cNvPr>
          <p:cNvSpPr>
            <a:spLocks noGrp="1"/>
          </p:cNvSpPr>
          <p:nvPr/>
        </p:nvSpPr>
        <p:spPr>
          <a:xfrm flipV="1">
            <a:off x="6840015" y="4939227"/>
            <a:ext cx="2303986" cy="204273"/>
          </a:xfrm>
          <a:prstGeom prst="rect">
            <a:avLst/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DC43EF-7288-3D6D-2169-D2B946B2A102}"/>
              </a:ext>
            </a:extLst>
          </p:cNvPr>
          <p:cNvSpPr>
            <a:spLocks noGrp="1"/>
          </p:cNvSpPr>
          <p:nvPr/>
        </p:nvSpPr>
        <p:spPr>
          <a:xfrm>
            <a:off x="1" y="4939309"/>
            <a:ext cx="6840014" cy="204192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1" name="标题 20">
            <a:extLst>
              <a:ext uri="{FF2B5EF4-FFF2-40B4-BE49-F238E27FC236}">
                <a16:creationId xmlns:a16="http://schemas.microsoft.com/office/drawing/2014/main" id="{F0A5FC05-514E-B29E-DCB7-8EBC41822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1425" y="180975"/>
            <a:ext cx="4610100" cy="552450"/>
          </a:xfr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>
                <a:solidFill>
                  <a:srgbClr val="C00000"/>
                </a:solidFill>
                <a:latin typeface="宋体"/>
                <a:ea typeface="宋体"/>
                <a:cs typeface="宋体"/>
              </a:defRPr>
            </a:pPr>
            <a:r>
              <a:rPr lang="zh-CN" altLang="en-US" sz="2100" dirty="0">
                <a:solidFill>
                  <a:srgbClr val="C00000"/>
                </a:solidFill>
                <a:latin typeface="宋体"/>
                <a:ea typeface="宋体"/>
                <a:cs typeface="宋体"/>
              </a:rPr>
              <a:t>常规框架面临的问题</a:t>
            </a:r>
            <a:endParaRPr sz="2100" dirty="0">
              <a:solidFill>
                <a:srgbClr val="C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6" name="slide-number">
            <a:extLst>
              <a:ext uri="{FF2B5EF4-FFF2-40B4-BE49-F238E27FC236}">
                <a16:creationId xmlns:a16="http://schemas.microsoft.com/office/drawing/2014/main" id="{CC8C3C19-5C60-4C98-8B18-1887E7C937C7}"/>
              </a:ext>
            </a:extLst>
          </p:cNvPr>
          <p:cNvSpPr>
            <a:spLocks noGrp="1"/>
          </p:cNvSpPr>
          <p:nvPr/>
        </p:nvSpPr>
        <p:spPr>
          <a:xfrm>
            <a:off x="8562975" y="4962525"/>
            <a:ext cx="36195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8" name="第一版：读图、处理、显示，放进一个 main.cpp 就">
            <a:extLst>
              <a:ext uri="{FF2B5EF4-FFF2-40B4-BE49-F238E27FC236}">
                <a16:creationId xmlns:a16="http://schemas.microsoft.com/office/drawing/2014/main" id="{CC081DCF-DB0A-44D4-85FD-E91DDC52F87D}"/>
              </a:ext>
            </a:extLst>
          </p:cNvPr>
          <p:cNvSpPr>
            <a:spLocks noGrp="1"/>
          </p:cNvSpPr>
          <p:nvPr/>
        </p:nvSpPr>
        <p:spPr>
          <a:xfrm>
            <a:off x="476250" y="981075"/>
            <a:ext cx="8191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650" b="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从单功能到多功能：是否易于扩展、易于维护</a:t>
            </a:r>
            <a:r>
              <a:rPr sz="1650" b="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9" name="01">
            <a:extLst>
              <a:ext uri="{FF2B5EF4-FFF2-40B4-BE49-F238E27FC236}">
                <a16:creationId xmlns:a16="http://schemas.microsoft.com/office/drawing/2014/main" id="{0E0AE234-8CBC-4741-AB55-89A5264106F9}"/>
              </a:ext>
            </a:extLst>
          </p:cNvPr>
          <p:cNvSpPr>
            <a:spLocks noGrp="1"/>
          </p:cNvSpPr>
          <p:nvPr/>
        </p:nvSpPr>
        <p:spPr>
          <a:xfrm>
            <a:off x="476250" y="1666875"/>
            <a:ext cx="5429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dirty="0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30" name="队友想加一个窗口，需要和你一起改主程序">
            <a:extLst>
              <a:ext uri="{FF2B5EF4-FFF2-40B4-BE49-F238E27FC236}">
                <a16:creationId xmlns:a16="http://schemas.microsoft.com/office/drawing/2014/main" id="{620C3143-6413-4390-8163-B00425EB63D0}"/>
              </a:ext>
            </a:extLst>
          </p:cNvPr>
          <p:cNvSpPr>
            <a:spLocks noGrp="1"/>
          </p:cNvSpPr>
          <p:nvPr/>
        </p:nvSpPr>
        <p:spPr>
          <a:xfrm>
            <a:off x="1200150" y="1676400"/>
            <a:ext cx="74676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如果在一条链路中添加旁路，如何去修改输入与处理之间的接口</a:t>
            </a:r>
            <a:endParaRPr sz="1800" b="0" dirty="0">
              <a:solidFill>
                <a:srgbClr val="2020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02">
            <a:extLst>
              <a:ext uri="{FF2B5EF4-FFF2-40B4-BE49-F238E27FC236}">
                <a16:creationId xmlns:a16="http://schemas.microsoft.com/office/drawing/2014/main" id="{0BCB3B3E-FA6D-4195-9ED8-0731D33AFE09}"/>
              </a:ext>
            </a:extLst>
          </p:cNvPr>
          <p:cNvSpPr>
            <a:spLocks noGrp="1"/>
          </p:cNvSpPr>
          <p:nvPr/>
        </p:nvSpPr>
        <p:spPr>
          <a:xfrm>
            <a:off x="476250" y="2466975"/>
            <a:ext cx="5429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32" name="图像没有更新，不确定是采集停了还是处理卡了">
            <a:extLst>
              <a:ext uri="{FF2B5EF4-FFF2-40B4-BE49-F238E27FC236}">
                <a16:creationId xmlns:a16="http://schemas.microsoft.com/office/drawing/2014/main" id="{70987B00-E187-477D-ABE9-6F704ECEAB23}"/>
              </a:ext>
            </a:extLst>
          </p:cNvPr>
          <p:cNvSpPr>
            <a:spLocks noGrp="1"/>
          </p:cNvSpPr>
          <p:nvPr/>
        </p:nvSpPr>
        <p:spPr>
          <a:xfrm>
            <a:off x="1200150" y="2476500"/>
            <a:ext cx="74676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800" b="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多功能间通信，如何调度线程、避免死锁等</a:t>
            </a:r>
            <a:endParaRPr sz="1800" b="0" dirty="0">
              <a:solidFill>
                <a:srgbClr val="2020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03">
            <a:extLst>
              <a:ext uri="{FF2B5EF4-FFF2-40B4-BE49-F238E27FC236}">
                <a16:creationId xmlns:a16="http://schemas.microsoft.com/office/drawing/2014/main" id="{BBC73BA2-CB26-4634-AC3E-61A622B5F23C}"/>
              </a:ext>
            </a:extLst>
          </p:cNvPr>
          <p:cNvSpPr>
            <a:spLocks noGrp="1"/>
          </p:cNvSpPr>
          <p:nvPr/>
        </p:nvSpPr>
        <p:spPr>
          <a:xfrm>
            <a:off x="476250" y="3267075"/>
            <a:ext cx="5429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dirty="0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34" name="换一个数据来源，希望处理代码还能继续用">
            <a:extLst>
              <a:ext uri="{FF2B5EF4-FFF2-40B4-BE49-F238E27FC236}">
                <a16:creationId xmlns:a16="http://schemas.microsoft.com/office/drawing/2014/main" id="{BE47D3B6-5DCC-454C-875E-DFEC2FC5804A}"/>
              </a:ext>
            </a:extLst>
          </p:cNvPr>
          <p:cNvSpPr>
            <a:spLocks noGrp="1"/>
          </p:cNvSpPr>
          <p:nvPr/>
        </p:nvSpPr>
        <p:spPr>
          <a:xfrm>
            <a:off x="1200150" y="3276600"/>
            <a:ext cx="74676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输出异常，如何定位问题根源</a:t>
            </a:r>
          </a:p>
        </p:txBody>
      </p:sp>
      <p:sp>
        <p:nvSpPr>
          <p:cNvPr id="3" name="03">
            <a:extLst>
              <a:ext uri="{FF2B5EF4-FFF2-40B4-BE49-F238E27FC236}">
                <a16:creationId xmlns:a16="http://schemas.microsoft.com/office/drawing/2014/main" id="{2C9FD39E-FAB3-AB32-1C72-EDA02EFC4EBD}"/>
              </a:ext>
            </a:extLst>
          </p:cNvPr>
          <p:cNvSpPr>
            <a:spLocks noGrp="1"/>
          </p:cNvSpPr>
          <p:nvPr/>
        </p:nvSpPr>
        <p:spPr>
          <a:xfrm>
            <a:off x="476250" y="4072534"/>
            <a:ext cx="5429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dirty="0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en-US" sz="2250" b="1" dirty="0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2250" b="1" dirty="0">
              <a:solidFill>
                <a:srgbClr val="20386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换一个数据来源，希望处理代码还能继续用">
            <a:extLst>
              <a:ext uri="{FF2B5EF4-FFF2-40B4-BE49-F238E27FC236}">
                <a16:creationId xmlns:a16="http://schemas.microsoft.com/office/drawing/2014/main" id="{64F71965-4F21-F4AC-292C-2B21DD4BDC54}"/>
              </a:ext>
            </a:extLst>
          </p:cNvPr>
          <p:cNvSpPr>
            <a:spLocks noGrp="1"/>
          </p:cNvSpPr>
          <p:nvPr/>
        </p:nvSpPr>
        <p:spPr>
          <a:xfrm>
            <a:off x="1200150" y="4082059"/>
            <a:ext cx="74676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多人协作时，其他人如何快速理解代码中的哪些部分与其工作有关</a:t>
            </a:r>
          </a:p>
        </p:txBody>
      </p:sp>
    </p:spTree>
    <p:extLst>
      <p:ext uri="{BB962C8B-B14F-4D97-AF65-F5344CB8AC3E}">
        <p14:creationId xmlns:p14="http://schemas.microsoft.com/office/powerpoint/2010/main" val="1508884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2DD98-4A0A-D678-D370-7D741C50F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12">
            <a:extLst>
              <a:ext uri="{FF2B5EF4-FFF2-40B4-BE49-F238E27FC236}">
                <a16:creationId xmlns:a16="http://schemas.microsoft.com/office/drawing/2014/main" id="{5F0C0491-9A77-470F-0BA4-40A0DC82D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65" y="153233"/>
            <a:ext cx="395424" cy="40046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F87881C-032E-7B2C-A14E-63A6F8411C51}"/>
              </a:ext>
            </a:extLst>
          </p:cNvPr>
          <p:cNvSpPr>
            <a:spLocks noGrp="1"/>
          </p:cNvSpPr>
          <p:nvPr/>
        </p:nvSpPr>
        <p:spPr>
          <a:xfrm>
            <a:off x="1403648" y="350819"/>
            <a:ext cx="1729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None/>
            </a:pPr>
            <a:r>
              <a:rPr sz="1050">
                <a:solidFill>
                  <a:prstClr val="black"/>
                </a:solidFill>
                <a:latin typeface="Charlemagne Std"/>
                <a:ea typeface="Charlemagne Std"/>
                <a:cs typeface="Charlemagne Std"/>
              </a:rPr>
              <a:t> BIT Dream Chaser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15B012-70DC-A23A-7C39-78CCB6C7AAB2}"/>
              </a:ext>
            </a:extLst>
          </p:cNvPr>
          <p:cNvSpPr>
            <a:spLocks noGrp="1"/>
          </p:cNvSpPr>
          <p:nvPr/>
        </p:nvSpPr>
        <p:spPr>
          <a:xfrm>
            <a:off x="796648" y="153232"/>
            <a:ext cx="2767240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41438B-6902-8F80-268E-AD7AAE113CE5}"/>
              </a:ext>
            </a:extLst>
          </p:cNvPr>
          <p:cNvSpPr>
            <a:spLocks noGrp="1"/>
          </p:cNvSpPr>
          <p:nvPr/>
        </p:nvSpPr>
        <p:spPr>
          <a:xfrm>
            <a:off x="8460432" y="167196"/>
            <a:ext cx="683568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91D7B4C-5752-A942-B2DC-64B738039764}"/>
              </a:ext>
            </a:extLst>
          </p:cNvPr>
          <p:cNvSpPr>
            <a:spLocks noGrp="1"/>
          </p:cNvSpPr>
          <p:nvPr/>
        </p:nvSpPr>
        <p:spPr>
          <a:xfrm flipV="1">
            <a:off x="6840015" y="4939227"/>
            <a:ext cx="2303986" cy="204273"/>
          </a:xfrm>
          <a:prstGeom prst="rect">
            <a:avLst/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EFA951C-F5BE-6236-AF3F-AAF89AAFD05D}"/>
              </a:ext>
            </a:extLst>
          </p:cNvPr>
          <p:cNvSpPr>
            <a:spLocks noGrp="1"/>
          </p:cNvSpPr>
          <p:nvPr/>
        </p:nvSpPr>
        <p:spPr>
          <a:xfrm>
            <a:off x="1" y="4939309"/>
            <a:ext cx="6840014" cy="204192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1" name="标题 20">
            <a:extLst>
              <a:ext uri="{FF2B5EF4-FFF2-40B4-BE49-F238E27FC236}">
                <a16:creationId xmlns:a16="http://schemas.microsoft.com/office/drawing/2014/main" id="{6806F2B7-71E3-8FAF-4B06-3077DDB67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1425" y="180975"/>
            <a:ext cx="4610100" cy="552450"/>
          </a:xfr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>
                <a:solidFill>
                  <a:srgbClr val="C00000"/>
                </a:solidFill>
                <a:latin typeface="宋体"/>
                <a:ea typeface="宋体"/>
                <a:cs typeface="宋体"/>
              </a:defRPr>
            </a:pPr>
            <a:r>
              <a:rPr lang="en-US" altLang="zh-CN" sz="2100" dirty="0">
                <a:solidFill>
                  <a:srgbClr val="C00000"/>
                </a:solidFill>
                <a:latin typeface="宋体"/>
                <a:ea typeface="宋体"/>
                <a:cs typeface="宋体"/>
              </a:rPr>
              <a:t>ROS2</a:t>
            </a:r>
            <a:r>
              <a:rPr lang="zh-CN" altLang="en-US" sz="2100" dirty="0">
                <a:solidFill>
                  <a:srgbClr val="C00000"/>
                </a:solidFill>
                <a:latin typeface="宋体"/>
                <a:ea typeface="宋体"/>
                <a:cs typeface="宋体"/>
              </a:rPr>
              <a:t>的优势</a:t>
            </a:r>
            <a:endParaRPr sz="2100" dirty="0">
              <a:solidFill>
                <a:srgbClr val="C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6" name="slide-number">
            <a:extLst>
              <a:ext uri="{FF2B5EF4-FFF2-40B4-BE49-F238E27FC236}">
                <a16:creationId xmlns:a16="http://schemas.microsoft.com/office/drawing/2014/main" id="{BEAFBF83-8B99-CA81-EE4F-A40006AF6DCA}"/>
              </a:ext>
            </a:extLst>
          </p:cNvPr>
          <p:cNvSpPr>
            <a:spLocks noGrp="1"/>
          </p:cNvSpPr>
          <p:nvPr/>
        </p:nvSpPr>
        <p:spPr>
          <a:xfrm>
            <a:off x="8562975" y="4962525"/>
            <a:ext cx="36195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8" name="第一版：读图、处理、显示，放进一个 main.cpp 就">
            <a:extLst>
              <a:ext uri="{FF2B5EF4-FFF2-40B4-BE49-F238E27FC236}">
                <a16:creationId xmlns:a16="http://schemas.microsoft.com/office/drawing/2014/main" id="{4F4A7E68-F590-A664-CC70-5B7BCC4A7860}"/>
              </a:ext>
            </a:extLst>
          </p:cNvPr>
          <p:cNvSpPr>
            <a:spLocks noGrp="1"/>
          </p:cNvSpPr>
          <p:nvPr/>
        </p:nvSpPr>
        <p:spPr>
          <a:xfrm>
            <a:off x="476250" y="981075"/>
            <a:ext cx="8191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zh-CN" sz="1650" dirty="0">
                <a:solidFill>
                  <a:srgbClr val="202020"/>
                </a:solidFill>
                <a:latin typeface="微软雅黑"/>
              </a:rPr>
              <a:t>将节点作为功能划分单元</a:t>
            </a:r>
            <a:r>
              <a:rPr lang="zh-CN" altLang="en-US" sz="1650" b="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lang="zh-CN" altLang="zh-CN" sz="1650" dirty="0">
                <a:solidFill>
                  <a:srgbClr val="202020"/>
                </a:solidFill>
                <a:latin typeface="微软雅黑"/>
              </a:rPr>
              <a:t>模块之间通过明确的消息接口协作，并且有现成的查看、调试和启动工具</a:t>
            </a:r>
            <a:r>
              <a:rPr sz="1650" b="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9" name="01">
            <a:extLst>
              <a:ext uri="{FF2B5EF4-FFF2-40B4-BE49-F238E27FC236}">
                <a16:creationId xmlns:a16="http://schemas.microsoft.com/office/drawing/2014/main" id="{DC024796-496B-05D4-9407-C266A573943E}"/>
              </a:ext>
            </a:extLst>
          </p:cNvPr>
          <p:cNvSpPr>
            <a:spLocks noGrp="1"/>
          </p:cNvSpPr>
          <p:nvPr/>
        </p:nvSpPr>
        <p:spPr>
          <a:xfrm>
            <a:off x="476250" y="1666875"/>
            <a:ext cx="5429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dirty="0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30" name="队友想加一个窗口，需要和你一起改主程序">
            <a:extLst>
              <a:ext uri="{FF2B5EF4-FFF2-40B4-BE49-F238E27FC236}">
                <a16:creationId xmlns:a16="http://schemas.microsoft.com/office/drawing/2014/main" id="{4DF8C592-9488-864B-865C-AA415D4863DC}"/>
              </a:ext>
            </a:extLst>
          </p:cNvPr>
          <p:cNvSpPr>
            <a:spLocks noGrp="1"/>
          </p:cNvSpPr>
          <p:nvPr/>
        </p:nvSpPr>
        <p:spPr>
          <a:xfrm>
            <a:off x="1200150" y="1676400"/>
            <a:ext cx="74676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如果在一条链路中添加旁路，如何去修改输入与处理之间的接口</a:t>
            </a:r>
            <a:endParaRPr lang="en-US" altLang="zh-CN" dirty="0">
              <a:solidFill>
                <a:srgbClr val="202020"/>
              </a:solidFill>
              <a:latin typeface="微软雅黑"/>
              <a:ea typeface="微软雅黑"/>
              <a:cs typeface="微软雅黑"/>
            </a:endParaRPr>
          </a:p>
          <a:p>
            <a:pPr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800" b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新节点可以订阅已有话题，减少对原模块的修改</a:t>
            </a:r>
            <a:endParaRPr sz="1800" b="0" dirty="0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02">
            <a:extLst>
              <a:ext uri="{FF2B5EF4-FFF2-40B4-BE49-F238E27FC236}">
                <a16:creationId xmlns:a16="http://schemas.microsoft.com/office/drawing/2014/main" id="{32610339-9156-B232-CAE9-367D77BAEBE8}"/>
              </a:ext>
            </a:extLst>
          </p:cNvPr>
          <p:cNvSpPr>
            <a:spLocks noGrp="1"/>
          </p:cNvSpPr>
          <p:nvPr/>
        </p:nvSpPr>
        <p:spPr>
          <a:xfrm>
            <a:off x="476250" y="2466975"/>
            <a:ext cx="5429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32" name="图像没有更新，不确定是采集停了还是处理卡了">
            <a:extLst>
              <a:ext uri="{FF2B5EF4-FFF2-40B4-BE49-F238E27FC236}">
                <a16:creationId xmlns:a16="http://schemas.microsoft.com/office/drawing/2014/main" id="{1154E5B4-C496-8F65-1111-78BC5BFB05CB}"/>
              </a:ext>
            </a:extLst>
          </p:cNvPr>
          <p:cNvSpPr>
            <a:spLocks noGrp="1"/>
          </p:cNvSpPr>
          <p:nvPr/>
        </p:nvSpPr>
        <p:spPr>
          <a:xfrm>
            <a:off x="1200150" y="2476500"/>
            <a:ext cx="74676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800" b="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多功能间通信，如何调度线程、避免死锁等</a:t>
            </a:r>
            <a:endParaRPr lang="en-US" altLang="zh-CN" sz="1800" b="0" dirty="0">
              <a:solidFill>
                <a:srgbClr val="202020"/>
              </a:solidFill>
              <a:latin typeface="微软雅黑"/>
              <a:ea typeface="微软雅黑"/>
              <a:cs typeface="微软雅黑"/>
            </a:endParaRPr>
          </a:p>
          <a:p>
            <a:pPr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800" b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用统一的消息接口和 </a:t>
            </a:r>
            <a:r>
              <a:rPr lang="en-US" altLang="zh-CN" sz="1800" b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Topic </a:t>
            </a:r>
            <a:r>
              <a:rPr lang="zh-CN" altLang="en-US" sz="1800" b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等机制连接</a:t>
            </a:r>
            <a:endParaRPr sz="1800" b="0" dirty="0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03">
            <a:extLst>
              <a:ext uri="{FF2B5EF4-FFF2-40B4-BE49-F238E27FC236}">
                <a16:creationId xmlns:a16="http://schemas.microsoft.com/office/drawing/2014/main" id="{8E92C296-D0C1-CF01-2080-0D53FA6D0BBA}"/>
              </a:ext>
            </a:extLst>
          </p:cNvPr>
          <p:cNvSpPr>
            <a:spLocks noGrp="1"/>
          </p:cNvSpPr>
          <p:nvPr/>
        </p:nvSpPr>
        <p:spPr>
          <a:xfrm>
            <a:off x="476250" y="3267075"/>
            <a:ext cx="5429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dirty="0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34" name="换一个数据来源，希望处理代码还能继续用">
            <a:extLst>
              <a:ext uri="{FF2B5EF4-FFF2-40B4-BE49-F238E27FC236}">
                <a16:creationId xmlns:a16="http://schemas.microsoft.com/office/drawing/2014/main" id="{DA2EB6CD-5E5F-BDF2-6A92-8BA644141C50}"/>
              </a:ext>
            </a:extLst>
          </p:cNvPr>
          <p:cNvSpPr>
            <a:spLocks noGrp="1"/>
          </p:cNvSpPr>
          <p:nvPr/>
        </p:nvSpPr>
        <p:spPr>
          <a:xfrm>
            <a:off x="1200150" y="3276600"/>
            <a:ext cx="74676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输出异常，如何定位问题根源</a:t>
            </a:r>
            <a:endParaRPr lang="en-US" altLang="zh-CN" dirty="0">
              <a:solidFill>
                <a:srgbClr val="202020"/>
              </a:solidFill>
              <a:latin typeface="微软雅黑"/>
              <a:ea typeface="微软雅黑"/>
              <a:cs typeface="微软雅黑"/>
            </a:endParaRPr>
          </a:p>
          <a:p>
            <a:pPr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命令行查看话题、数据、频率、连接关系和 </a:t>
            </a:r>
            <a:r>
              <a:rPr lang="en-US" altLang="zh-CN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QoS</a:t>
            </a:r>
            <a:endParaRPr lang="zh-CN" altLang="en-US" dirty="0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03">
            <a:extLst>
              <a:ext uri="{FF2B5EF4-FFF2-40B4-BE49-F238E27FC236}">
                <a16:creationId xmlns:a16="http://schemas.microsoft.com/office/drawing/2014/main" id="{A8920D06-22DA-C7E9-2FC3-F1202DBD09F7}"/>
              </a:ext>
            </a:extLst>
          </p:cNvPr>
          <p:cNvSpPr>
            <a:spLocks noGrp="1"/>
          </p:cNvSpPr>
          <p:nvPr/>
        </p:nvSpPr>
        <p:spPr>
          <a:xfrm>
            <a:off x="476250" y="4072534"/>
            <a:ext cx="5429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dirty="0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en-US" sz="2250" b="1" dirty="0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2250" b="1" dirty="0">
              <a:solidFill>
                <a:srgbClr val="20386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换一个数据来源，希望处理代码还能继续用">
            <a:extLst>
              <a:ext uri="{FF2B5EF4-FFF2-40B4-BE49-F238E27FC236}">
                <a16:creationId xmlns:a16="http://schemas.microsoft.com/office/drawing/2014/main" id="{90523FB2-7C34-F010-D89A-21F2115682C2}"/>
              </a:ext>
            </a:extLst>
          </p:cNvPr>
          <p:cNvSpPr>
            <a:spLocks noGrp="1"/>
          </p:cNvSpPr>
          <p:nvPr/>
        </p:nvSpPr>
        <p:spPr>
          <a:xfrm>
            <a:off x="1200150" y="4082059"/>
            <a:ext cx="74676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多人协作时，其他人如何快速理解代码中的哪些部分与其工作有关</a:t>
            </a:r>
            <a:endParaRPr lang="en-US" altLang="zh-CN" dirty="0">
              <a:solidFill>
                <a:srgbClr val="202020"/>
              </a:solidFill>
              <a:latin typeface="微软雅黑"/>
              <a:ea typeface="微软雅黑"/>
              <a:cs typeface="微软雅黑"/>
            </a:endParaRPr>
          </a:p>
          <a:p>
            <a:pPr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根据各节点功能划分来分配各自负责的部分</a:t>
            </a:r>
          </a:p>
        </p:txBody>
      </p:sp>
    </p:spTree>
    <p:extLst>
      <p:ext uri="{BB962C8B-B14F-4D97-AF65-F5344CB8AC3E}">
        <p14:creationId xmlns:p14="http://schemas.microsoft.com/office/powerpoint/2010/main" val="238080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65" y="153233"/>
            <a:ext cx="395424" cy="40046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7E06F2D-D8C9-3DA4-4E34-C69B3526808D}"/>
              </a:ext>
            </a:extLst>
          </p:cNvPr>
          <p:cNvSpPr>
            <a:spLocks noGrp="1"/>
          </p:cNvSpPr>
          <p:nvPr/>
        </p:nvSpPr>
        <p:spPr>
          <a:xfrm>
            <a:off x="1403648" y="350819"/>
            <a:ext cx="1729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None/>
            </a:pPr>
            <a:r>
              <a:rPr sz="1050">
                <a:solidFill>
                  <a:prstClr val="black"/>
                </a:solidFill>
                <a:latin typeface="Charlemagne Std"/>
                <a:ea typeface="Charlemagne Std"/>
                <a:cs typeface="Charlemagne Std"/>
              </a:rPr>
              <a:t> BIT Dream Chaser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292859-8F3E-9CD6-1815-165CECBA1CCB}"/>
              </a:ext>
            </a:extLst>
          </p:cNvPr>
          <p:cNvSpPr>
            <a:spLocks noGrp="1"/>
          </p:cNvSpPr>
          <p:nvPr/>
        </p:nvSpPr>
        <p:spPr>
          <a:xfrm>
            <a:off x="796648" y="153232"/>
            <a:ext cx="2767240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EFEDCB-7BB4-117F-27DC-C535FCE6A36D}"/>
              </a:ext>
            </a:extLst>
          </p:cNvPr>
          <p:cNvSpPr>
            <a:spLocks noGrp="1"/>
          </p:cNvSpPr>
          <p:nvPr/>
        </p:nvSpPr>
        <p:spPr>
          <a:xfrm>
            <a:off x="8460432" y="167196"/>
            <a:ext cx="683568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E3F00F-EC0F-F6FA-F695-1FAA9383A0E8}"/>
              </a:ext>
            </a:extLst>
          </p:cNvPr>
          <p:cNvSpPr>
            <a:spLocks noGrp="1"/>
          </p:cNvSpPr>
          <p:nvPr/>
        </p:nvSpPr>
        <p:spPr>
          <a:xfrm flipV="1">
            <a:off x="6840015" y="4939227"/>
            <a:ext cx="2303986" cy="204273"/>
          </a:xfrm>
          <a:prstGeom prst="rect">
            <a:avLst/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DC43EF-7288-3D6D-2169-D2B946B2A102}"/>
              </a:ext>
            </a:extLst>
          </p:cNvPr>
          <p:cNvSpPr>
            <a:spLocks noGrp="1"/>
          </p:cNvSpPr>
          <p:nvPr/>
        </p:nvSpPr>
        <p:spPr>
          <a:xfrm>
            <a:off x="1" y="4939309"/>
            <a:ext cx="6840014" cy="204192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1" name="标题 20">
            <a:extLst>
              <a:ext uri="{FF2B5EF4-FFF2-40B4-BE49-F238E27FC236}">
                <a16:creationId xmlns:a16="http://schemas.microsoft.com/office/drawing/2014/main" id="{F0A5FC05-514E-B29E-DCB7-8EBC41822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1425" y="180975"/>
            <a:ext cx="4610100" cy="552450"/>
          </a:xfr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>
                <a:solidFill>
                  <a:srgbClr val="C00000"/>
                </a:solidFill>
                <a:latin typeface="宋体"/>
                <a:ea typeface="宋体"/>
                <a:cs typeface="宋体"/>
              </a:defRPr>
            </a:pPr>
            <a:r>
              <a:rPr sz="2100" b="0" dirty="0" err="1">
                <a:solidFill>
                  <a:srgbClr val="C00000"/>
                </a:solidFill>
                <a:latin typeface="宋体"/>
                <a:ea typeface="宋体"/>
                <a:cs typeface="宋体"/>
              </a:rPr>
              <a:t>常用工具省下重复工作</a:t>
            </a:r>
            <a:endParaRPr sz="2100" dirty="0">
              <a:solidFill>
                <a:srgbClr val="C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6" name="slide-number">
            <a:extLst>
              <a:ext uri="{FF2B5EF4-FFF2-40B4-BE49-F238E27FC236}">
                <a16:creationId xmlns:a16="http://schemas.microsoft.com/office/drawing/2014/main" id="{CC8C3C19-5C60-4C98-8B18-1887E7C937C7}"/>
              </a:ext>
            </a:extLst>
          </p:cNvPr>
          <p:cNvSpPr>
            <a:spLocks noGrp="1"/>
          </p:cNvSpPr>
          <p:nvPr/>
        </p:nvSpPr>
        <p:spPr>
          <a:xfrm>
            <a:off x="8562975" y="4962525"/>
            <a:ext cx="36195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8" name="把接口统一起来，查看、调试和启动就能用同一套工具。">
            <a:extLst>
              <a:ext uri="{FF2B5EF4-FFF2-40B4-BE49-F238E27FC236}">
                <a16:creationId xmlns:a16="http://schemas.microsoft.com/office/drawing/2014/main" id="{EA64E101-1C9C-4199-BEA6-39071280493E}"/>
              </a:ext>
            </a:extLst>
          </p:cNvPr>
          <p:cNvSpPr>
            <a:spLocks noGrp="1"/>
          </p:cNvSpPr>
          <p:nvPr/>
        </p:nvSpPr>
        <p:spPr>
          <a:xfrm>
            <a:off x="476250" y="981075"/>
            <a:ext cx="8191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 dirty="0" err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把接口统一起来，查看、调试和启动用同一套工具</a:t>
            </a:r>
            <a:r>
              <a:rPr sz="1650" b="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graphicFrame>
        <p:nvGraphicFramePr>
          <p:cNvPr id="40" name="表格 39"/>
          <p:cNvGraphicFramePr/>
          <p:nvPr>
            <p:extLst>
              <p:ext uri="{D42A27DB-BD31-4B8C-83A1-F6EECF244321}">
                <p14:modId xmlns:p14="http://schemas.microsoft.com/office/powerpoint/2010/main" val="4074466730"/>
              </p:ext>
            </p:extLst>
          </p:nvPr>
        </p:nvGraphicFramePr>
        <p:xfrm>
          <a:off x="476250" y="1533525"/>
          <a:ext cx="8191500" cy="2628900"/>
        </p:xfrm>
        <a:graphic>
          <a:graphicData uri="http://schemas.openxmlformats.org/drawingml/2006/table">
            <a:tbl>
              <a:tblPr/>
              <a:tblGrid>
                <a:gridCol w="40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r>
                        <a:rPr sz="1575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我们</a:t>
                      </a:r>
                      <a:r>
                        <a:rPr lang="zh-CN" altLang="en-US" sz="1575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需要的</a:t>
                      </a:r>
                      <a:endParaRPr sz="1575" b="1" dirty="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57150" marB="57150"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575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ROS2 </a:t>
                      </a:r>
                      <a:r>
                        <a:rPr lang="zh-CN" altLang="en-US" sz="1575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支持的</a:t>
                      </a:r>
                      <a:endParaRPr sz="1575" b="1" dirty="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57150" marB="57150"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575" dirty="0" err="1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现在有哪些</a:t>
                      </a:r>
                      <a:r>
                        <a:rPr lang="zh-CN" altLang="en-US" sz="1575" dirty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节点</a:t>
                      </a:r>
                      <a:r>
                        <a:rPr sz="1575" dirty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、</a:t>
                      </a:r>
                      <a:r>
                        <a:rPr sz="1575" dirty="0" err="1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谁在通信</a:t>
                      </a:r>
                      <a:endParaRPr sz="1575" dirty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ros2 node / topic，rqt_graph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575" dirty="0" err="1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消息发了什么</a:t>
                      </a:r>
                      <a:endParaRPr sz="1575" dirty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ros2 topic echo / hz / info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575" dirty="0" err="1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一组程序一</a:t>
                      </a:r>
                      <a:r>
                        <a:rPr lang="zh-CN" altLang="en-US" sz="1575" dirty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键</a:t>
                      </a:r>
                      <a:r>
                        <a:rPr sz="1575" dirty="0" err="1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启动、传入配置</a:t>
                      </a:r>
                      <a:endParaRPr sz="1575" dirty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Launch、参数、命名空间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575" dirty="0" err="1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保存输入，之后重复测试</a:t>
                      </a:r>
                      <a:endParaRPr sz="1575" dirty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dirty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ros2 bag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5274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3"/>
          <p:cNvPicPr>
            <a:picLocks noChangeAspect="1"/>
          </p:cNvPicPr>
          <p:nvPr/>
        </p:nvPicPr>
        <p:blipFill rotWithShape="1">
          <a:blip r:embed="rId3"/>
          <a:srcRect l="4578" r="11925" b="8088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6" name="等腰三角形 5">
            <a:extLst>
              <a:ext uri="{FF2B5EF4-FFF2-40B4-BE49-F238E27FC236}">
                <a16:creationId xmlns:a16="http://schemas.microsoft.com/office/drawing/2014/main" id="{1271CB4A-830F-4D32-95E7-0248603F3C32}"/>
              </a:ext>
            </a:extLst>
          </p:cNvPr>
          <p:cNvSpPr>
            <a:spLocks noGrp="1"/>
          </p:cNvSpPr>
          <p:nvPr/>
        </p:nvSpPr>
        <p:spPr>
          <a:xfrm rot="10800000" flipH="1" flipV="1">
            <a:off x="0" y="3507854"/>
            <a:ext cx="2555776" cy="1656184"/>
          </a:xfrm>
          <a:prstGeom prst="triangle">
            <a:avLst>
              <a:gd name="adj" fmla="val 50259"/>
            </a:avLst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B4B2987D-4CDF-4827-9F87-AFAF9C9B3DA3}"/>
              </a:ext>
            </a:extLst>
          </p:cNvPr>
          <p:cNvSpPr>
            <a:spLocks noGrp="1"/>
          </p:cNvSpPr>
          <p:nvPr/>
        </p:nvSpPr>
        <p:spPr>
          <a:xfrm>
            <a:off x="1675116" y="267494"/>
            <a:ext cx="7468884" cy="4896544"/>
          </a:xfrm>
          <a:prstGeom prst="triangle">
            <a:avLst>
              <a:gd name="adj" fmla="val 48962"/>
            </a:avLst>
          </a:prstGeom>
          <a:solidFill>
            <a:schemeClr val="tx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34F1BDC-9F04-4853-89EF-2A27C134AAF2}"/>
              </a:ext>
            </a:extLst>
          </p:cNvPr>
          <p:cNvSpPr>
            <a:spLocks noGrp="1"/>
          </p:cNvSpPr>
          <p:nvPr/>
        </p:nvSpPr>
        <p:spPr>
          <a:xfrm>
            <a:off x="5004048" y="1594123"/>
            <a:ext cx="727404" cy="727404"/>
          </a:xfrm>
          <a:prstGeom prst="ellipse">
            <a:avLst/>
          </a:prstGeom>
          <a:noFill/>
          <a:ln>
            <a:solidFill>
              <a:srgbClr val="D2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A68CC3-60BD-4A89-AE05-9B053A9C88C4}"/>
              </a:ext>
            </a:extLst>
          </p:cNvPr>
          <p:cNvSpPr>
            <a:spLocks noGrp="1"/>
          </p:cNvSpPr>
          <p:nvPr/>
        </p:nvSpPr>
        <p:spPr>
          <a:xfrm>
            <a:off x="5220072" y="1635646"/>
            <a:ext cx="553818" cy="7994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4000" b="0">
                <a:solidFill>
                  <a:srgbClr val="D20000"/>
                </a:solidFill>
                <a:latin typeface="Impact"/>
                <a:ea typeface="Impact"/>
                <a:cs typeface="Impact"/>
              </a:defRPr>
            </a:pPr>
            <a:r>
              <a:rPr sz="4000" b="0">
                <a:solidFill>
                  <a:srgbClr val="D20000"/>
                </a:solidFill>
                <a:latin typeface="Impact"/>
                <a:ea typeface="Impact"/>
                <a:cs typeface="Impact"/>
              </a:rPr>
              <a:t>2</a:t>
            </a:r>
            <a:endParaRPr sz="4000">
              <a:solidFill>
                <a:srgbClr val="D20000"/>
              </a:solidFill>
              <a:latin typeface="Impact"/>
              <a:ea typeface="Impact"/>
              <a:cs typeface="Impac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B8E7DDD-8590-4E79-9960-580910E39DC4}"/>
              </a:ext>
            </a:extLst>
          </p:cNvPr>
          <p:cNvSpPr>
            <a:spLocks noGrp="1"/>
          </p:cNvSpPr>
          <p:nvPr/>
        </p:nvSpPr>
        <p:spPr>
          <a:xfrm>
            <a:off x="3238500" y="2647950"/>
            <a:ext cx="4543425" cy="561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pPr algn="ctr">
              <a:buNone/>
              <a:defRPr sz="29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925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创建包与运行程序</a:t>
            </a:r>
            <a:endParaRPr sz="2925" b="0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EDA5A8-CFF1-4DC1-A306-CA155186875C}"/>
              </a:ext>
            </a:extLst>
          </p:cNvPr>
          <p:cNvSpPr>
            <a:spLocks noGrp="1"/>
          </p:cNvSpPr>
          <p:nvPr/>
        </p:nvSpPr>
        <p:spPr>
          <a:xfrm>
            <a:off x="3238500" y="3267075"/>
            <a:ext cx="3319780" cy="3314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BUILD</a:t>
            </a:r>
            <a:r>
              <a:rPr lang="en-US"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&amp; RUN</a:t>
            </a:r>
            <a:endParaRPr dirty="0">
              <a:solidFill>
                <a:schemeClr val="bg2">
                  <a:lumMod val="90000"/>
                </a:schemeClr>
              </a:solidFill>
              <a:latin typeface="Courier New"/>
              <a:ea typeface="Courier New"/>
              <a:cs typeface="Courier New"/>
            </a:endParaRPr>
          </a:p>
        </p:txBody>
      </p:sp>
      <p:pic>
        <p:nvPicPr>
          <p:cNvPr id="25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57" y="4155926"/>
            <a:ext cx="790459" cy="8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280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65" y="153233"/>
            <a:ext cx="395424" cy="40046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7E06F2D-D8C9-3DA4-4E34-C69B3526808D}"/>
              </a:ext>
            </a:extLst>
          </p:cNvPr>
          <p:cNvSpPr>
            <a:spLocks noGrp="1"/>
          </p:cNvSpPr>
          <p:nvPr/>
        </p:nvSpPr>
        <p:spPr>
          <a:xfrm>
            <a:off x="1403648" y="350819"/>
            <a:ext cx="1729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None/>
            </a:pPr>
            <a:r>
              <a:rPr sz="1050">
                <a:solidFill>
                  <a:prstClr val="black"/>
                </a:solidFill>
                <a:latin typeface="Charlemagne Std"/>
                <a:ea typeface="Charlemagne Std"/>
                <a:cs typeface="Charlemagne Std"/>
              </a:rPr>
              <a:t> BIT Dream Chaser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292859-8F3E-9CD6-1815-165CECBA1CCB}"/>
              </a:ext>
            </a:extLst>
          </p:cNvPr>
          <p:cNvSpPr>
            <a:spLocks noGrp="1"/>
          </p:cNvSpPr>
          <p:nvPr/>
        </p:nvSpPr>
        <p:spPr>
          <a:xfrm>
            <a:off x="796648" y="153232"/>
            <a:ext cx="2767240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EFEDCB-7BB4-117F-27DC-C535FCE6A36D}"/>
              </a:ext>
            </a:extLst>
          </p:cNvPr>
          <p:cNvSpPr>
            <a:spLocks noGrp="1"/>
          </p:cNvSpPr>
          <p:nvPr/>
        </p:nvSpPr>
        <p:spPr>
          <a:xfrm>
            <a:off x="8460432" y="167196"/>
            <a:ext cx="683568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E3F00F-EC0F-F6FA-F695-1FAA9383A0E8}"/>
              </a:ext>
            </a:extLst>
          </p:cNvPr>
          <p:cNvSpPr>
            <a:spLocks noGrp="1"/>
          </p:cNvSpPr>
          <p:nvPr/>
        </p:nvSpPr>
        <p:spPr>
          <a:xfrm flipV="1">
            <a:off x="6840015" y="4939227"/>
            <a:ext cx="2303986" cy="204273"/>
          </a:xfrm>
          <a:prstGeom prst="rect">
            <a:avLst/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DC43EF-7288-3D6D-2169-D2B946B2A102}"/>
              </a:ext>
            </a:extLst>
          </p:cNvPr>
          <p:cNvSpPr>
            <a:spLocks noGrp="1"/>
          </p:cNvSpPr>
          <p:nvPr/>
        </p:nvSpPr>
        <p:spPr>
          <a:xfrm>
            <a:off x="1" y="4939309"/>
            <a:ext cx="6840014" cy="204192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1" name="标题 20">
            <a:extLst>
              <a:ext uri="{FF2B5EF4-FFF2-40B4-BE49-F238E27FC236}">
                <a16:creationId xmlns:a16="http://schemas.microsoft.com/office/drawing/2014/main" id="{F0A5FC05-514E-B29E-DCB7-8EBC41822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1425" y="180975"/>
            <a:ext cx="4610100" cy="552450"/>
          </a:xfr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>
                <a:solidFill>
                  <a:srgbClr val="C00000"/>
                </a:solidFill>
                <a:latin typeface="宋体"/>
                <a:ea typeface="宋体"/>
                <a:cs typeface="宋体"/>
              </a:defRPr>
            </a:pPr>
            <a:r>
              <a:rPr lang="zh-CN" altLang="en-US" sz="2100" b="0" dirty="0">
                <a:solidFill>
                  <a:srgbClr val="C00000"/>
                </a:solidFill>
                <a:latin typeface="宋体"/>
                <a:ea typeface="宋体"/>
                <a:cs typeface="宋体"/>
              </a:rPr>
              <a:t>创建一个</a:t>
            </a:r>
            <a:r>
              <a:rPr lang="en-US" altLang="zh-CN" sz="2100" b="0" dirty="0">
                <a:solidFill>
                  <a:srgbClr val="C00000"/>
                </a:solidFill>
                <a:latin typeface="宋体"/>
                <a:ea typeface="宋体"/>
                <a:cs typeface="宋体"/>
              </a:rPr>
              <a:t>package</a:t>
            </a:r>
            <a:endParaRPr sz="2100" dirty="0">
              <a:solidFill>
                <a:srgbClr val="C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6" name="slide-number">
            <a:extLst>
              <a:ext uri="{FF2B5EF4-FFF2-40B4-BE49-F238E27FC236}">
                <a16:creationId xmlns:a16="http://schemas.microsoft.com/office/drawing/2014/main" id="{CC8C3C19-5C60-4C98-8B18-1887E7C937C7}"/>
              </a:ext>
            </a:extLst>
          </p:cNvPr>
          <p:cNvSpPr>
            <a:spLocks noGrp="1"/>
          </p:cNvSpPr>
          <p:nvPr/>
        </p:nvSpPr>
        <p:spPr>
          <a:xfrm>
            <a:off x="8562975" y="4962525"/>
            <a:ext cx="36195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28" name="包名用小写。新建成功后，先看看它生成了哪些文件。">
            <a:extLst>
              <a:ext uri="{FF2B5EF4-FFF2-40B4-BE49-F238E27FC236}">
                <a16:creationId xmlns:a16="http://schemas.microsoft.com/office/drawing/2014/main" id="{C7C14688-46E4-4531-AE4A-4E013C050676}"/>
              </a:ext>
            </a:extLst>
          </p:cNvPr>
          <p:cNvSpPr>
            <a:spLocks noGrp="1"/>
          </p:cNvSpPr>
          <p:nvPr/>
        </p:nvSpPr>
        <p:spPr>
          <a:xfrm>
            <a:off x="476250" y="981075"/>
            <a:ext cx="8191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包名用小写。新建成功后，先看看它生成了哪些文件。</a:t>
            </a:r>
          </a:p>
        </p:txBody>
      </p:sp>
      <p:sp>
        <p:nvSpPr>
          <p:cNvPr id="29" name="mkdir -p ~/xinhuo_scratch/sr">
            <a:extLst>
              <a:ext uri="{FF2B5EF4-FFF2-40B4-BE49-F238E27FC236}">
                <a16:creationId xmlns:a16="http://schemas.microsoft.com/office/drawing/2014/main" id="{E71C7E6C-84BB-4493-A285-B07CC5002FD5}"/>
              </a:ext>
            </a:extLst>
          </p:cNvPr>
          <p:cNvSpPr>
            <a:spLocks noGrp="1"/>
          </p:cNvSpPr>
          <p:nvPr/>
        </p:nvSpPr>
        <p:spPr>
          <a:xfrm>
            <a:off x="476250" y="1628775"/>
            <a:ext cx="8191500" cy="1800225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  <p:txBody>
          <a:bodyPr wrap="square" lIns="123825" tIns="104775" rIns="123825" bIns="104775" anchor="t">
            <a:noAutofit/>
          </a:bodyPr>
          <a:lstStyle/>
          <a:p>
            <a:pPr>
              <a:def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mkdir</a:t>
            </a:r>
            <a:r>
              <a:rPr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-p ~/</a:t>
            </a:r>
            <a:r>
              <a:rPr lang="en-US"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xinhuo_</a:t>
            </a:r>
            <a:r>
              <a:rPr lang="en-US" sz="150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ros2</a:t>
            </a:r>
            <a:r>
              <a:rPr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500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src</a:t>
            </a:r>
            <a:endParaRPr sz="1500" b="0" dirty="0">
              <a:solidFill>
                <a:srgbClr val="F3F3F3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cd ~/</a:t>
            </a:r>
            <a:r>
              <a:rPr lang="en-US" altLang="zh-CN" sz="150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xinhuo_ros2</a:t>
            </a:r>
            <a:r>
              <a:rPr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500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src</a:t>
            </a:r>
            <a:endParaRPr sz="1500" b="0" dirty="0">
              <a:solidFill>
                <a:srgbClr val="F3F3F3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ros2 pkg create </a:t>
            </a:r>
            <a:r>
              <a:rPr lang="en-US" sz="1500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test_package</a:t>
            </a:r>
            <a:r>
              <a:rPr lang="en-US"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\</a:t>
            </a:r>
          </a:p>
          <a:p>
            <a:pPr>
              <a:def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--build-type </a:t>
            </a:r>
            <a:r>
              <a:rPr sz="1500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ament_cmake</a:t>
            </a:r>
            <a:r>
              <a:rPr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--license MIT \</a:t>
            </a:r>
          </a:p>
          <a:p>
            <a:pPr>
              <a:def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--dependencies </a:t>
            </a:r>
            <a:r>
              <a:rPr sz="1500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rclcpp</a:t>
            </a:r>
            <a:r>
              <a:rPr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500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sensor_msgs</a:t>
            </a:r>
            <a:r>
              <a:rPr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500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std_msgs</a:t>
            </a:r>
            <a:r>
              <a:rPr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500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cv_bridge</a:t>
            </a:r>
            <a:endParaRPr sz="1500" b="0" dirty="0">
              <a:solidFill>
                <a:srgbClr val="F3F3F3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30" name="rclcpp 提供 C++ 接口，sensor_msgs">
            <a:extLst>
              <a:ext uri="{FF2B5EF4-FFF2-40B4-BE49-F238E27FC236}">
                <a16:creationId xmlns:a16="http://schemas.microsoft.com/office/drawing/2014/main" id="{2F1E746D-D36D-4365-AF55-7AD1D4AF9262}"/>
              </a:ext>
            </a:extLst>
          </p:cNvPr>
          <p:cNvSpPr>
            <a:spLocks noGrp="1"/>
          </p:cNvSpPr>
          <p:nvPr/>
        </p:nvSpPr>
        <p:spPr>
          <a:xfrm>
            <a:off x="476250" y="3705225"/>
            <a:ext cx="8191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 dirty="0" err="1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rclcpp</a:t>
            </a:r>
            <a:r>
              <a:rPr sz="1725" b="1" dirty="0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25" b="1" dirty="0" err="1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提供</a:t>
            </a:r>
            <a:r>
              <a:rPr sz="1725" b="1" dirty="0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 C++ </a:t>
            </a:r>
            <a:r>
              <a:rPr sz="1725" b="1" dirty="0" err="1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接口，sensor_msgs</a:t>
            </a:r>
            <a:r>
              <a:rPr sz="1725" b="1" dirty="0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25" b="1" dirty="0" err="1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提供</a:t>
            </a:r>
            <a:r>
              <a:rPr lang="zh-CN" altLang="en-US" sz="1725" b="1" dirty="0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基础传感器</a:t>
            </a:r>
            <a:r>
              <a:rPr sz="1725" b="1" dirty="0" err="1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消息</a:t>
            </a:r>
            <a:r>
              <a:rPr sz="1725" b="1" dirty="0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3" name="下方为 CMake 节选。完整的依赖查找和链接规则见配套">
            <a:extLst>
              <a:ext uri="{FF2B5EF4-FFF2-40B4-BE49-F238E27FC236}">
                <a16:creationId xmlns:a16="http://schemas.microsoft.com/office/drawing/2014/main" id="{A757A630-5006-747B-0CDC-74F62EA2C032}"/>
              </a:ext>
            </a:extLst>
          </p:cNvPr>
          <p:cNvSpPr>
            <a:spLocks noGrp="1"/>
          </p:cNvSpPr>
          <p:nvPr/>
        </p:nvSpPr>
        <p:spPr>
          <a:xfrm>
            <a:off x="476250" y="4276725"/>
            <a:ext cx="819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38" b="0">
                <a:solidFill>
                  <a:srgbClr val="646464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238" dirty="0">
                <a:solidFill>
                  <a:srgbClr val="646464"/>
                </a:solidFill>
                <a:latin typeface="微软雅黑"/>
                <a:ea typeface="微软雅黑"/>
                <a:cs typeface="微软雅黑"/>
              </a:rPr>
              <a:t>多用</a:t>
            </a:r>
            <a:r>
              <a:rPr lang="en-US" altLang="zh-CN" sz="1238" dirty="0">
                <a:solidFill>
                  <a:srgbClr val="646464"/>
                </a:solidFill>
                <a:latin typeface="微软雅黑"/>
                <a:ea typeface="微软雅黑"/>
                <a:cs typeface="微软雅黑"/>
              </a:rPr>
              <a:t>tab</a:t>
            </a:r>
            <a:r>
              <a:rPr lang="zh-CN" altLang="en-US" sz="1238" dirty="0">
                <a:solidFill>
                  <a:srgbClr val="646464"/>
                </a:solidFill>
                <a:latin typeface="微软雅黑"/>
                <a:ea typeface="微软雅黑"/>
                <a:cs typeface="微软雅黑"/>
              </a:rPr>
              <a:t>键补全</a:t>
            </a:r>
            <a:endParaRPr sz="1238" b="0" dirty="0">
              <a:solidFill>
                <a:srgbClr val="646464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379122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65" y="153233"/>
            <a:ext cx="395424" cy="40046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7E06F2D-D8C9-3DA4-4E34-C69B3526808D}"/>
              </a:ext>
            </a:extLst>
          </p:cNvPr>
          <p:cNvSpPr>
            <a:spLocks noGrp="1"/>
          </p:cNvSpPr>
          <p:nvPr/>
        </p:nvSpPr>
        <p:spPr>
          <a:xfrm>
            <a:off x="1403648" y="350819"/>
            <a:ext cx="1729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None/>
            </a:pPr>
            <a:r>
              <a:rPr sz="1050">
                <a:solidFill>
                  <a:prstClr val="black"/>
                </a:solidFill>
                <a:latin typeface="Charlemagne Std"/>
                <a:ea typeface="Charlemagne Std"/>
                <a:cs typeface="Charlemagne Std"/>
              </a:rPr>
              <a:t> BIT Dream Chaser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292859-8F3E-9CD6-1815-165CECBA1CCB}"/>
              </a:ext>
            </a:extLst>
          </p:cNvPr>
          <p:cNvSpPr>
            <a:spLocks noGrp="1"/>
          </p:cNvSpPr>
          <p:nvPr/>
        </p:nvSpPr>
        <p:spPr>
          <a:xfrm>
            <a:off x="796648" y="153232"/>
            <a:ext cx="2767240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EFEDCB-7BB4-117F-27DC-C535FCE6A36D}"/>
              </a:ext>
            </a:extLst>
          </p:cNvPr>
          <p:cNvSpPr>
            <a:spLocks noGrp="1"/>
          </p:cNvSpPr>
          <p:nvPr/>
        </p:nvSpPr>
        <p:spPr>
          <a:xfrm>
            <a:off x="8460432" y="167196"/>
            <a:ext cx="683568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E3F00F-EC0F-F6FA-F695-1FAA9383A0E8}"/>
              </a:ext>
            </a:extLst>
          </p:cNvPr>
          <p:cNvSpPr>
            <a:spLocks noGrp="1"/>
          </p:cNvSpPr>
          <p:nvPr/>
        </p:nvSpPr>
        <p:spPr>
          <a:xfrm flipV="1">
            <a:off x="6840015" y="4939227"/>
            <a:ext cx="2303986" cy="204273"/>
          </a:xfrm>
          <a:prstGeom prst="rect">
            <a:avLst/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DC43EF-7288-3D6D-2169-D2B946B2A102}"/>
              </a:ext>
            </a:extLst>
          </p:cNvPr>
          <p:cNvSpPr>
            <a:spLocks noGrp="1"/>
          </p:cNvSpPr>
          <p:nvPr/>
        </p:nvSpPr>
        <p:spPr>
          <a:xfrm>
            <a:off x="1" y="4939309"/>
            <a:ext cx="6840014" cy="204192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1" name="标题 20">
            <a:extLst>
              <a:ext uri="{FF2B5EF4-FFF2-40B4-BE49-F238E27FC236}">
                <a16:creationId xmlns:a16="http://schemas.microsoft.com/office/drawing/2014/main" id="{F0A5FC05-514E-B29E-DCB7-8EBC41822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1425" y="180975"/>
            <a:ext cx="4610100" cy="552450"/>
          </a:xfr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>
                <a:solidFill>
                  <a:srgbClr val="C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C00000"/>
                </a:solidFill>
                <a:latin typeface="宋体"/>
                <a:ea typeface="宋体"/>
                <a:cs typeface="宋体"/>
              </a:rPr>
              <a:t>编译、加载，然后运行程序</a:t>
            </a:r>
            <a:endParaRPr sz="2100">
              <a:solidFill>
                <a:srgbClr val="C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6" name="slide-number">
            <a:extLst>
              <a:ext uri="{FF2B5EF4-FFF2-40B4-BE49-F238E27FC236}">
                <a16:creationId xmlns:a16="http://schemas.microsoft.com/office/drawing/2014/main" id="{CC8C3C19-5C60-4C98-8B18-1887E7C937C7}"/>
              </a:ext>
            </a:extLst>
          </p:cNvPr>
          <p:cNvSpPr>
            <a:spLocks noGrp="1"/>
          </p:cNvSpPr>
          <p:nvPr/>
        </p:nvSpPr>
        <p:spPr>
          <a:xfrm>
            <a:off x="8562975" y="4962525"/>
            <a:ext cx="36195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28" name="在 xinhuo_ros2_ws 根目录操作。改完 C+">
            <a:extLst>
              <a:ext uri="{FF2B5EF4-FFF2-40B4-BE49-F238E27FC236}">
                <a16:creationId xmlns:a16="http://schemas.microsoft.com/office/drawing/2014/main" id="{2E9A2071-E376-4EE5-8D31-33120D4BF74D}"/>
              </a:ext>
            </a:extLst>
          </p:cNvPr>
          <p:cNvSpPr>
            <a:spLocks noGrp="1"/>
          </p:cNvSpPr>
          <p:nvPr/>
        </p:nvSpPr>
        <p:spPr>
          <a:xfrm>
            <a:off x="476250" y="981075"/>
            <a:ext cx="8191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65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打开</a:t>
            </a:r>
            <a:r>
              <a:rPr sz="1650" b="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在 </a:t>
            </a:r>
            <a:r>
              <a:rPr sz="1650" b="0" dirty="0" err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xinhuo</a:t>
            </a:r>
            <a:r>
              <a:rPr sz="1650" b="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_ </a:t>
            </a:r>
            <a:r>
              <a:rPr lang="en-US" altLang="zh-CN" sz="1650" b="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example </a:t>
            </a:r>
            <a:r>
              <a:rPr sz="1650" b="0" dirty="0" err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根目录操作</a:t>
            </a:r>
            <a:r>
              <a:rPr sz="1650" b="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。</a:t>
            </a:r>
            <a:r>
              <a:rPr lang="zh-CN" altLang="en-US" sz="1650" b="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修</a:t>
            </a:r>
            <a:r>
              <a:rPr sz="1650" b="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改 C++ </a:t>
            </a:r>
            <a:r>
              <a:rPr sz="1650" b="0" dirty="0" err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后要重新编译</a:t>
            </a:r>
            <a:r>
              <a:rPr sz="1650" b="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9" name="source /opt/ros/jazzy/setup.">
            <a:extLst>
              <a:ext uri="{FF2B5EF4-FFF2-40B4-BE49-F238E27FC236}">
                <a16:creationId xmlns:a16="http://schemas.microsoft.com/office/drawing/2014/main" id="{121B3953-B57A-400D-AD54-99122CEE4A2C}"/>
              </a:ext>
            </a:extLst>
          </p:cNvPr>
          <p:cNvSpPr>
            <a:spLocks noGrp="1"/>
          </p:cNvSpPr>
          <p:nvPr/>
        </p:nvSpPr>
        <p:spPr>
          <a:xfrm>
            <a:off x="468077" y="1361035"/>
            <a:ext cx="8191500" cy="914400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  <p:txBody>
          <a:bodyPr wrap="square" lIns="123825" tIns="104775" rIns="123825" bIns="104775" anchor="t">
            <a:noAutofit/>
          </a:bodyPr>
          <a:lstStyle/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colcon</a:t>
            </a:r>
            <a:r>
              <a:rPr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zh-CN"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build</a:t>
            </a:r>
            <a:endParaRPr sz="1575" b="0" dirty="0">
              <a:solidFill>
                <a:srgbClr val="F3F3F3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source install/</a:t>
            </a:r>
            <a:r>
              <a:rPr sz="1575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setup.bash</a:t>
            </a:r>
            <a:endParaRPr sz="1575" b="0" dirty="0">
              <a:solidFill>
                <a:srgbClr val="F3F3F3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ros2 run </a:t>
            </a:r>
            <a:r>
              <a:rPr lang="en-US" altLang="zh-CN" sz="1575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video_reader</a:t>
            </a:r>
            <a:r>
              <a:rPr lang="en-US" altLang="zh-CN"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575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videor_reader</a:t>
            </a:r>
            <a:endParaRPr sz="1575" b="0" dirty="0">
              <a:solidFill>
                <a:srgbClr val="F3F3F3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30" name="ros2 run  包名  可执行程序名">
            <a:extLst>
              <a:ext uri="{FF2B5EF4-FFF2-40B4-BE49-F238E27FC236}">
                <a16:creationId xmlns:a16="http://schemas.microsoft.com/office/drawing/2014/main" id="{EF69B491-8A00-4EC0-A129-42786C799C77}"/>
              </a:ext>
            </a:extLst>
          </p:cNvPr>
          <p:cNvSpPr>
            <a:spLocks noGrp="1"/>
          </p:cNvSpPr>
          <p:nvPr/>
        </p:nvSpPr>
        <p:spPr>
          <a:xfrm>
            <a:off x="476250" y="3524209"/>
            <a:ext cx="8191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 dirty="0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ros2 run  </a:t>
            </a:r>
            <a:r>
              <a:rPr sz="2025" b="1" dirty="0" err="1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包名</a:t>
            </a:r>
            <a:r>
              <a:rPr sz="2025" b="1" dirty="0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025" b="1" dirty="0" err="1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可执行程序名</a:t>
            </a:r>
            <a:endParaRPr sz="2025" b="1" dirty="0">
              <a:solidFill>
                <a:srgbClr val="20386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它运行安装后的程序。节点名由 C++ 里的 Node(&quot;">
            <a:extLst>
              <a:ext uri="{FF2B5EF4-FFF2-40B4-BE49-F238E27FC236}">
                <a16:creationId xmlns:a16="http://schemas.microsoft.com/office/drawing/2014/main" id="{429815E7-49E8-4A5F-9FDF-D38BDB4FD0E1}"/>
              </a:ext>
            </a:extLst>
          </p:cNvPr>
          <p:cNvSpPr>
            <a:spLocks noGrp="1"/>
          </p:cNvSpPr>
          <p:nvPr/>
        </p:nvSpPr>
        <p:spPr>
          <a:xfrm>
            <a:off x="476250" y="3876675"/>
            <a:ext cx="8191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 dirty="0" err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它运行安装后的程序。节点名由</a:t>
            </a:r>
            <a:r>
              <a:rPr sz="1575" b="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 C++ </a:t>
            </a:r>
            <a:r>
              <a:rPr sz="1575" b="0" dirty="0" err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里的</a:t>
            </a:r>
            <a:r>
              <a:rPr sz="1575" b="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 Node("...") </a:t>
            </a:r>
            <a:r>
              <a:rPr sz="1575" b="0" dirty="0" err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设置</a:t>
            </a:r>
            <a:r>
              <a:rPr sz="1575" b="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32" name="ROS 2 的命令是 ros2 run；课堂图像演示还会">
            <a:extLst>
              <a:ext uri="{FF2B5EF4-FFF2-40B4-BE49-F238E27FC236}">
                <a16:creationId xmlns:a16="http://schemas.microsoft.com/office/drawing/2014/main" id="{D9B166B7-CE82-4CDB-8647-2EC954AD6E11}"/>
              </a:ext>
            </a:extLst>
          </p:cNvPr>
          <p:cNvSpPr>
            <a:spLocks noGrp="1"/>
          </p:cNvSpPr>
          <p:nvPr/>
        </p:nvSpPr>
        <p:spPr>
          <a:xfrm>
            <a:off x="476250" y="4276725"/>
            <a:ext cx="819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38" b="0">
                <a:solidFill>
                  <a:srgbClr val="646464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238" b="0" dirty="0">
                <a:solidFill>
                  <a:srgbClr val="646464"/>
                </a:solidFill>
                <a:latin typeface="微软雅黑"/>
                <a:ea typeface="微软雅黑"/>
                <a:cs typeface="微软雅黑"/>
              </a:rPr>
              <a:t>每个包下也可以有多个节点</a:t>
            </a:r>
            <a:endParaRPr sz="1238" b="0" dirty="0">
              <a:solidFill>
                <a:srgbClr val="64646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source /opt/ros/jazzy/setup.">
            <a:extLst>
              <a:ext uri="{FF2B5EF4-FFF2-40B4-BE49-F238E27FC236}">
                <a16:creationId xmlns:a16="http://schemas.microsoft.com/office/drawing/2014/main" id="{24BD998C-788D-7CBB-64A7-749E40B65967}"/>
              </a:ext>
            </a:extLst>
          </p:cNvPr>
          <p:cNvSpPr>
            <a:spLocks noGrp="1"/>
          </p:cNvSpPr>
          <p:nvPr/>
        </p:nvSpPr>
        <p:spPr>
          <a:xfrm>
            <a:off x="468077" y="2671237"/>
            <a:ext cx="8191500" cy="698732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  <p:txBody>
          <a:bodyPr wrap="square" lIns="123825" tIns="104775" rIns="123825" bIns="104775" anchor="t">
            <a:noAutofit/>
          </a:bodyPr>
          <a:lstStyle/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source install/</a:t>
            </a:r>
            <a:r>
              <a:rPr sz="1575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setup.bash</a:t>
            </a:r>
            <a:endParaRPr sz="1575" b="0" dirty="0">
              <a:solidFill>
                <a:srgbClr val="F3F3F3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ros2 run </a:t>
            </a:r>
            <a:r>
              <a:rPr lang="en-US" altLang="zh-CN" sz="1575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video_viewer</a:t>
            </a:r>
            <a:r>
              <a:rPr lang="en-US" altLang="zh-CN" sz="1575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zh-CN" sz="1575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videor_viewer</a:t>
            </a:r>
            <a:endParaRPr sz="1575" b="0" dirty="0">
              <a:solidFill>
                <a:srgbClr val="F3F3F3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EC6DA52-6AB4-5DC3-399B-0089E6CB093C}"/>
              </a:ext>
            </a:extLst>
          </p:cNvPr>
          <p:cNvSpPr txBox="1"/>
          <p:nvPr/>
        </p:nvSpPr>
        <p:spPr>
          <a:xfrm>
            <a:off x="476250" y="234772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另一个终端</a:t>
            </a:r>
          </a:p>
        </p:txBody>
      </p:sp>
    </p:spTree>
    <p:extLst>
      <p:ext uri="{BB962C8B-B14F-4D97-AF65-F5344CB8AC3E}">
        <p14:creationId xmlns:p14="http://schemas.microsoft.com/office/powerpoint/2010/main" val="1260808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3"/>
          <p:cNvPicPr>
            <a:picLocks noChangeAspect="1"/>
          </p:cNvPicPr>
          <p:nvPr/>
        </p:nvPicPr>
        <p:blipFill rotWithShape="1">
          <a:blip r:embed="rId3"/>
          <a:srcRect l="4578" r="11925" b="8088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6" name="等腰三角形 5">
            <a:extLst>
              <a:ext uri="{FF2B5EF4-FFF2-40B4-BE49-F238E27FC236}">
                <a16:creationId xmlns:a16="http://schemas.microsoft.com/office/drawing/2014/main" id="{1271CB4A-830F-4D32-95E7-0248603F3C32}"/>
              </a:ext>
            </a:extLst>
          </p:cNvPr>
          <p:cNvSpPr>
            <a:spLocks noGrp="1"/>
          </p:cNvSpPr>
          <p:nvPr/>
        </p:nvSpPr>
        <p:spPr>
          <a:xfrm rot="10800000" flipH="1" flipV="1">
            <a:off x="0" y="3507854"/>
            <a:ext cx="2555776" cy="1656184"/>
          </a:xfrm>
          <a:prstGeom prst="triangle">
            <a:avLst>
              <a:gd name="adj" fmla="val 50259"/>
            </a:avLst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B4B2987D-4CDF-4827-9F87-AFAF9C9B3DA3}"/>
              </a:ext>
            </a:extLst>
          </p:cNvPr>
          <p:cNvSpPr>
            <a:spLocks noGrp="1"/>
          </p:cNvSpPr>
          <p:nvPr/>
        </p:nvSpPr>
        <p:spPr>
          <a:xfrm>
            <a:off x="1675116" y="267494"/>
            <a:ext cx="7468884" cy="4896544"/>
          </a:xfrm>
          <a:prstGeom prst="triangle">
            <a:avLst>
              <a:gd name="adj" fmla="val 48962"/>
            </a:avLst>
          </a:prstGeom>
          <a:solidFill>
            <a:schemeClr val="tx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34F1BDC-9F04-4853-89EF-2A27C134AAF2}"/>
              </a:ext>
            </a:extLst>
          </p:cNvPr>
          <p:cNvSpPr>
            <a:spLocks noGrp="1"/>
          </p:cNvSpPr>
          <p:nvPr/>
        </p:nvSpPr>
        <p:spPr>
          <a:xfrm>
            <a:off x="5004048" y="1594123"/>
            <a:ext cx="727404" cy="727404"/>
          </a:xfrm>
          <a:prstGeom prst="ellipse">
            <a:avLst/>
          </a:prstGeom>
          <a:noFill/>
          <a:ln>
            <a:solidFill>
              <a:srgbClr val="D2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A68CC3-60BD-4A89-AE05-9B053A9C88C4}"/>
              </a:ext>
            </a:extLst>
          </p:cNvPr>
          <p:cNvSpPr>
            <a:spLocks noGrp="1"/>
          </p:cNvSpPr>
          <p:nvPr/>
        </p:nvSpPr>
        <p:spPr>
          <a:xfrm>
            <a:off x="5220072" y="1635646"/>
            <a:ext cx="553818" cy="7994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4000" b="0">
                <a:solidFill>
                  <a:srgbClr val="D20000"/>
                </a:solidFill>
                <a:latin typeface="Impact"/>
                <a:ea typeface="Impact"/>
                <a:cs typeface="Impact"/>
              </a:defRPr>
            </a:pPr>
            <a:r>
              <a:rPr sz="4000" b="0">
                <a:solidFill>
                  <a:srgbClr val="D20000"/>
                </a:solidFill>
                <a:latin typeface="Impact"/>
                <a:ea typeface="Impact"/>
                <a:cs typeface="Impact"/>
              </a:rPr>
              <a:t>3</a:t>
            </a:r>
            <a:endParaRPr sz="4000">
              <a:solidFill>
                <a:srgbClr val="D20000"/>
              </a:solidFill>
              <a:latin typeface="Impact"/>
              <a:ea typeface="Impact"/>
              <a:cs typeface="Impac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B8E7DDD-8590-4E79-9960-580910E39DC4}"/>
              </a:ext>
            </a:extLst>
          </p:cNvPr>
          <p:cNvSpPr>
            <a:spLocks noGrp="1"/>
          </p:cNvSpPr>
          <p:nvPr/>
        </p:nvSpPr>
        <p:spPr>
          <a:xfrm>
            <a:off x="3238500" y="2647950"/>
            <a:ext cx="4543425" cy="561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pPr algn="ctr">
              <a:buNone/>
              <a:defRPr sz="29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925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节点与回调</a:t>
            </a:r>
            <a:endParaRPr sz="2925" b="0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EDA5A8-CFF1-4DC1-A306-CA155186875C}"/>
              </a:ext>
            </a:extLst>
          </p:cNvPr>
          <p:cNvSpPr>
            <a:spLocks noGrp="1"/>
          </p:cNvSpPr>
          <p:nvPr/>
        </p:nvSpPr>
        <p:spPr>
          <a:xfrm>
            <a:off x="3238500" y="3267075"/>
            <a:ext cx="3319780" cy="3314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NODES </a:t>
            </a:r>
            <a:r>
              <a:rPr lang="en-US" sz="1575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&amp;</a:t>
            </a: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CALLBACKS</a:t>
            </a:r>
            <a:endParaRPr dirty="0">
              <a:solidFill>
                <a:schemeClr val="bg2">
                  <a:lumMod val="90000"/>
                </a:schemeClr>
              </a:solidFill>
              <a:latin typeface="Courier New"/>
              <a:ea typeface="Courier New"/>
              <a:cs typeface="Courier New"/>
            </a:endParaRPr>
          </a:p>
        </p:txBody>
      </p:sp>
      <p:pic>
        <p:nvPicPr>
          <p:cNvPr id="25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57" y="4155926"/>
            <a:ext cx="790459" cy="8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466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65" y="153233"/>
            <a:ext cx="395424" cy="40046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7E06F2D-D8C9-3DA4-4E34-C69B3526808D}"/>
              </a:ext>
            </a:extLst>
          </p:cNvPr>
          <p:cNvSpPr>
            <a:spLocks noGrp="1"/>
          </p:cNvSpPr>
          <p:nvPr/>
        </p:nvSpPr>
        <p:spPr>
          <a:xfrm>
            <a:off x="1403648" y="350819"/>
            <a:ext cx="1729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None/>
            </a:pPr>
            <a:r>
              <a:rPr sz="1050">
                <a:solidFill>
                  <a:prstClr val="black"/>
                </a:solidFill>
                <a:latin typeface="Charlemagne Std"/>
                <a:ea typeface="Charlemagne Std"/>
                <a:cs typeface="Charlemagne Std"/>
              </a:rPr>
              <a:t> BIT Dream Chaser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292859-8F3E-9CD6-1815-165CECBA1CCB}"/>
              </a:ext>
            </a:extLst>
          </p:cNvPr>
          <p:cNvSpPr>
            <a:spLocks noGrp="1"/>
          </p:cNvSpPr>
          <p:nvPr/>
        </p:nvSpPr>
        <p:spPr>
          <a:xfrm>
            <a:off x="796648" y="153232"/>
            <a:ext cx="2767240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EFEDCB-7BB4-117F-27DC-C535FCE6A36D}"/>
              </a:ext>
            </a:extLst>
          </p:cNvPr>
          <p:cNvSpPr>
            <a:spLocks noGrp="1"/>
          </p:cNvSpPr>
          <p:nvPr/>
        </p:nvSpPr>
        <p:spPr>
          <a:xfrm>
            <a:off x="8460432" y="167196"/>
            <a:ext cx="683568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E3F00F-EC0F-F6FA-F695-1FAA9383A0E8}"/>
              </a:ext>
            </a:extLst>
          </p:cNvPr>
          <p:cNvSpPr>
            <a:spLocks noGrp="1"/>
          </p:cNvSpPr>
          <p:nvPr/>
        </p:nvSpPr>
        <p:spPr>
          <a:xfrm flipV="1">
            <a:off x="6840015" y="4939227"/>
            <a:ext cx="2303986" cy="204273"/>
          </a:xfrm>
          <a:prstGeom prst="rect">
            <a:avLst/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DC43EF-7288-3D6D-2169-D2B946B2A102}"/>
              </a:ext>
            </a:extLst>
          </p:cNvPr>
          <p:cNvSpPr>
            <a:spLocks noGrp="1"/>
          </p:cNvSpPr>
          <p:nvPr/>
        </p:nvSpPr>
        <p:spPr>
          <a:xfrm>
            <a:off x="1" y="4939309"/>
            <a:ext cx="6840014" cy="204192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1" name="标题 20">
            <a:extLst>
              <a:ext uri="{FF2B5EF4-FFF2-40B4-BE49-F238E27FC236}">
                <a16:creationId xmlns:a16="http://schemas.microsoft.com/office/drawing/2014/main" id="{F0A5FC05-514E-B29E-DCB7-8EBC41822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1425" y="180975"/>
            <a:ext cx="4610100" cy="552450"/>
          </a:xfr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>
                <a:solidFill>
                  <a:srgbClr val="C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C00000"/>
                </a:solidFill>
                <a:latin typeface="宋体"/>
                <a:ea typeface="宋体"/>
                <a:cs typeface="宋体"/>
              </a:rPr>
              <a:t>节点就是使用 ROS 接口的对象</a:t>
            </a:r>
            <a:endParaRPr sz="2100">
              <a:solidFill>
                <a:srgbClr val="C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6" name="slide-number">
            <a:extLst>
              <a:ext uri="{FF2B5EF4-FFF2-40B4-BE49-F238E27FC236}">
                <a16:creationId xmlns:a16="http://schemas.microsoft.com/office/drawing/2014/main" id="{CC8C3C19-5C60-4C98-8B18-1887E7C937C7}"/>
              </a:ext>
            </a:extLst>
          </p:cNvPr>
          <p:cNvSpPr>
            <a:spLocks noGrp="1"/>
          </p:cNvSpPr>
          <p:nvPr/>
        </p:nvSpPr>
        <p:spPr>
          <a:xfrm>
            <a:off x="8562975" y="4962525"/>
            <a:ext cx="36195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28" name="class ImageSource : public r">
            <a:extLst>
              <a:ext uri="{FF2B5EF4-FFF2-40B4-BE49-F238E27FC236}">
                <a16:creationId xmlns:a16="http://schemas.microsoft.com/office/drawing/2014/main" id="{A90B5E14-EB1B-4A36-BC79-391010109267}"/>
              </a:ext>
            </a:extLst>
          </p:cNvPr>
          <p:cNvSpPr>
            <a:spLocks noGrp="1"/>
          </p:cNvSpPr>
          <p:nvPr/>
        </p:nvSpPr>
        <p:spPr>
          <a:xfrm>
            <a:off x="476250" y="1219200"/>
            <a:ext cx="5562600" cy="2552700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  <p:txBody>
          <a:bodyPr wrap="square" lIns="123825" tIns="104775" rIns="123825" bIns="104775" anchor="t">
            <a:noAutofit/>
          </a:bodyPr>
          <a:lstStyle/>
          <a:p>
            <a:pPr>
              <a:def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class </a:t>
            </a:r>
            <a:r>
              <a:rPr lang="en-US" sz="1500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X</a:t>
            </a:r>
            <a:r>
              <a:rPr lang="en-US" altLang="zh-CN" sz="1500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inhuoRos</a:t>
            </a:r>
            <a:r>
              <a:rPr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: public </a:t>
            </a:r>
            <a:r>
              <a:rPr sz="1500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rclcpp</a:t>
            </a:r>
            <a:r>
              <a:rPr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::Node</a:t>
            </a:r>
          </a:p>
          <a:p>
            <a:pPr>
              <a:def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{</a:t>
            </a:r>
          </a:p>
          <a:p>
            <a:pPr>
              <a:def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public:</a:t>
            </a:r>
          </a:p>
          <a:p>
            <a:pPr>
              <a:def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US" sz="1500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XinhuoRos</a:t>
            </a:r>
            <a:r>
              <a:rPr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() : Node("</a:t>
            </a:r>
            <a:r>
              <a:rPr lang="en-US" sz="1500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xinhuo</a:t>
            </a:r>
            <a:r>
              <a:rPr sz="1500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_</a:t>
            </a:r>
            <a:r>
              <a:rPr lang="en-US" sz="1500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ros</a:t>
            </a:r>
            <a:r>
              <a:rPr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")</a:t>
            </a:r>
          </a:p>
          <a:p>
            <a:pPr>
              <a:def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{</a:t>
            </a:r>
          </a:p>
          <a:p>
            <a:pPr>
              <a:def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  // </a:t>
            </a:r>
            <a:r>
              <a:rPr sz="1500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创建发布者、订阅者和定时器</a:t>
            </a:r>
            <a:endParaRPr sz="1500" b="0" dirty="0">
              <a:solidFill>
                <a:srgbClr val="F3F3F3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>
              <a:def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};</a:t>
            </a:r>
          </a:p>
        </p:txBody>
      </p:sp>
      <p:sp>
        <p:nvSpPr>
          <p:cNvPr id="29" name="class：普通 C++ 类&#10;&#10;继承 Node：获得 R">
            <a:extLst>
              <a:ext uri="{FF2B5EF4-FFF2-40B4-BE49-F238E27FC236}">
                <a16:creationId xmlns:a16="http://schemas.microsoft.com/office/drawing/2014/main" id="{2EFF39FE-1F57-4DDA-945C-43E0C26041A0}"/>
              </a:ext>
            </a:extLst>
          </p:cNvPr>
          <p:cNvSpPr>
            <a:spLocks noGrp="1"/>
          </p:cNvSpPr>
          <p:nvPr/>
        </p:nvSpPr>
        <p:spPr>
          <a:xfrm>
            <a:off x="6343650" y="1438275"/>
            <a:ext cx="2324100" cy="2028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class：普通 C++ 类</a:t>
            </a:r>
          </a:p>
          <a:p>
            <a:endParaRPr sz="1575" b="0">
              <a:solidFill>
                <a:srgbClr val="202020"/>
              </a:solidFill>
              <a:latin typeface="微软雅黑"/>
              <a:ea typeface="微软雅黑"/>
              <a:cs typeface="微软雅黑"/>
            </a:endParaRPr>
          </a:p>
          <a:p>
            <a:pPr>
              <a:defRPr sz="15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继承 Node：获得 ROS 接口</a:t>
            </a:r>
          </a:p>
          <a:p>
            <a:endParaRPr sz="1575" b="0">
              <a:solidFill>
                <a:srgbClr val="202020"/>
              </a:solidFill>
              <a:latin typeface="微软雅黑"/>
              <a:ea typeface="微软雅黑"/>
              <a:cs typeface="微软雅黑"/>
            </a:endParaRPr>
          </a:p>
          <a:p>
            <a:pPr>
              <a:defRPr sz="15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构造函数：设置节点名</a:t>
            </a:r>
          </a:p>
        </p:txBody>
      </p:sp>
      <p:sp>
        <p:nvSpPr>
          <p:cNvPr id="30" name="这是常用的组织写法。一个进程可以包含多个节点，节点不等于">
            <a:extLst>
              <a:ext uri="{FF2B5EF4-FFF2-40B4-BE49-F238E27FC236}">
                <a16:creationId xmlns:a16="http://schemas.microsoft.com/office/drawing/2014/main" id="{0EFB5581-0A62-4171-9B23-82FB164698D2}"/>
              </a:ext>
            </a:extLst>
          </p:cNvPr>
          <p:cNvSpPr>
            <a:spLocks noGrp="1"/>
          </p:cNvSpPr>
          <p:nvPr/>
        </p:nvSpPr>
        <p:spPr>
          <a:xfrm>
            <a:off x="476250" y="4276725"/>
            <a:ext cx="819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38" b="0">
                <a:solidFill>
                  <a:srgbClr val="646464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 dirty="0" err="1">
                <a:solidFill>
                  <a:srgbClr val="646464"/>
                </a:solidFill>
                <a:latin typeface="微软雅黑"/>
                <a:ea typeface="微软雅黑"/>
                <a:cs typeface="微软雅黑"/>
              </a:rPr>
              <a:t>这是常用的组织写法。一个进程可以包含多个节点，节点不等于</a:t>
            </a:r>
            <a:r>
              <a:rPr sz="1238" b="0" dirty="0">
                <a:solidFill>
                  <a:srgbClr val="646464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38" b="0" dirty="0" err="1">
                <a:solidFill>
                  <a:srgbClr val="646464"/>
                </a:solidFill>
                <a:latin typeface="微软雅黑"/>
                <a:ea typeface="微软雅黑"/>
                <a:cs typeface="微软雅黑"/>
              </a:rPr>
              <a:t>cpp</a:t>
            </a:r>
            <a:r>
              <a:rPr sz="1238" b="0" dirty="0">
                <a:solidFill>
                  <a:srgbClr val="646464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38" b="0" dirty="0" err="1">
                <a:solidFill>
                  <a:srgbClr val="646464"/>
                </a:solidFill>
                <a:latin typeface="微软雅黑"/>
                <a:ea typeface="微软雅黑"/>
                <a:cs typeface="微软雅黑"/>
              </a:rPr>
              <a:t>文件</a:t>
            </a:r>
            <a:r>
              <a:rPr sz="1238" b="0" dirty="0">
                <a:solidFill>
                  <a:srgbClr val="646464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64172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65" y="153233"/>
            <a:ext cx="395424" cy="40046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7E06F2D-D8C9-3DA4-4E34-C69B3526808D}"/>
              </a:ext>
            </a:extLst>
          </p:cNvPr>
          <p:cNvSpPr>
            <a:spLocks noGrp="1"/>
          </p:cNvSpPr>
          <p:nvPr/>
        </p:nvSpPr>
        <p:spPr>
          <a:xfrm>
            <a:off x="1403648" y="350819"/>
            <a:ext cx="1729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None/>
            </a:pPr>
            <a:r>
              <a:rPr sz="1050">
                <a:solidFill>
                  <a:prstClr val="black"/>
                </a:solidFill>
                <a:latin typeface="Charlemagne Std"/>
                <a:ea typeface="Charlemagne Std"/>
                <a:cs typeface="Charlemagne Std"/>
              </a:rPr>
              <a:t> BIT Dream Chaser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292859-8F3E-9CD6-1815-165CECBA1CCB}"/>
              </a:ext>
            </a:extLst>
          </p:cNvPr>
          <p:cNvSpPr>
            <a:spLocks noGrp="1"/>
          </p:cNvSpPr>
          <p:nvPr/>
        </p:nvSpPr>
        <p:spPr>
          <a:xfrm>
            <a:off x="796648" y="153232"/>
            <a:ext cx="2767240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EFEDCB-7BB4-117F-27DC-C535FCE6A36D}"/>
              </a:ext>
            </a:extLst>
          </p:cNvPr>
          <p:cNvSpPr>
            <a:spLocks noGrp="1"/>
          </p:cNvSpPr>
          <p:nvPr/>
        </p:nvSpPr>
        <p:spPr>
          <a:xfrm>
            <a:off x="8460432" y="167196"/>
            <a:ext cx="683568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E3F00F-EC0F-F6FA-F695-1FAA9383A0E8}"/>
              </a:ext>
            </a:extLst>
          </p:cNvPr>
          <p:cNvSpPr>
            <a:spLocks noGrp="1"/>
          </p:cNvSpPr>
          <p:nvPr/>
        </p:nvSpPr>
        <p:spPr>
          <a:xfrm flipV="1">
            <a:off x="6840015" y="4939227"/>
            <a:ext cx="2303986" cy="204273"/>
          </a:xfrm>
          <a:prstGeom prst="rect">
            <a:avLst/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DC43EF-7288-3D6D-2169-D2B946B2A102}"/>
              </a:ext>
            </a:extLst>
          </p:cNvPr>
          <p:cNvSpPr>
            <a:spLocks noGrp="1"/>
          </p:cNvSpPr>
          <p:nvPr/>
        </p:nvSpPr>
        <p:spPr>
          <a:xfrm>
            <a:off x="1" y="4939309"/>
            <a:ext cx="6840014" cy="204192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1" name="标题 20">
            <a:extLst>
              <a:ext uri="{FF2B5EF4-FFF2-40B4-BE49-F238E27FC236}">
                <a16:creationId xmlns:a16="http://schemas.microsoft.com/office/drawing/2014/main" id="{F0A5FC05-514E-B29E-DCB7-8EBC41822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1425" y="180975"/>
            <a:ext cx="4610100" cy="552450"/>
          </a:xfr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>
                <a:solidFill>
                  <a:srgbClr val="C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C00000"/>
                </a:solidFill>
                <a:latin typeface="宋体"/>
                <a:ea typeface="宋体"/>
                <a:cs typeface="宋体"/>
              </a:rPr>
              <a:t>spin 让已登记的回调得到执行</a:t>
            </a:r>
            <a:endParaRPr sz="2100">
              <a:solidFill>
                <a:srgbClr val="C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6" name="slide-number">
            <a:extLst>
              <a:ext uri="{FF2B5EF4-FFF2-40B4-BE49-F238E27FC236}">
                <a16:creationId xmlns:a16="http://schemas.microsoft.com/office/drawing/2014/main" id="{CC8C3C19-5C60-4C98-8B18-1887E7C937C7}"/>
              </a:ext>
            </a:extLst>
          </p:cNvPr>
          <p:cNvSpPr>
            <a:spLocks noGrp="1"/>
          </p:cNvSpPr>
          <p:nvPr/>
        </p:nvSpPr>
        <p:spPr>
          <a:xfrm>
            <a:off x="8562975" y="4962525"/>
            <a:ext cx="36195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28" name="先创建对象并登记回调，再进入事件处理。">
            <a:extLst>
              <a:ext uri="{FF2B5EF4-FFF2-40B4-BE49-F238E27FC236}">
                <a16:creationId xmlns:a16="http://schemas.microsoft.com/office/drawing/2014/main" id="{4DC64C53-E83B-4D42-A695-9617481D7A23}"/>
              </a:ext>
            </a:extLst>
          </p:cNvPr>
          <p:cNvSpPr>
            <a:spLocks noGrp="1"/>
          </p:cNvSpPr>
          <p:nvPr/>
        </p:nvSpPr>
        <p:spPr>
          <a:xfrm>
            <a:off x="476250" y="981075"/>
            <a:ext cx="8191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 dirty="0" err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先创建对象并登记回调，再进入事件处理</a:t>
            </a:r>
            <a:r>
              <a:rPr sz="1650" b="0" dirty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9" name="int main(int argc, char * ar">
            <a:extLst>
              <a:ext uri="{FF2B5EF4-FFF2-40B4-BE49-F238E27FC236}">
                <a16:creationId xmlns:a16="http://schemas.microsoft.com/office/drawing/2014/main" id="{9E1C404C-FB6F-495F-969C-CFC96A8EC5F9}"/>
              </a:ext>
            </a:extLst>
          </p:cNvPr>
          <p:cNvSpPr>
            <a:spLocks noGrp="1"/>
          </p:cNvSpPr>
          <p:nvPr/>
        </p:nvSpPr>
        <p:spPr>
          <a:xfrm>
            <a:off x="476250" y="1581150"/>
            <a:ext cx="8191500" cy="2495550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  <p:txBody>
          <a:bodyPr wrap="square" lIns="123825" tIns="104775" rIns="123825" bIns="104775" anchor="t">
            <a:noAutofit/>
          </a:bodyPr>
          <a:lstStyle/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int main(int </a:t>
            </a:r>
            <a:r>
              <a:rPr sz="1575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argc</a:t>
            </a:r>
            <a:r>
              <a:rPr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, char * </a:t>
            </a:r>
            <a:r>
              <a:rPr sz="1575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argv</a:t>
            </a:r>
            <a:r>
              <a:rPr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[])</a:t>
            </a: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{</a:t>
            </a: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575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rclcpp</a:t>
            </a:r>
            <a:r>
              <a:rPr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::</a:t>
            </a:r>
            <a:r>
              <a:rPr sz="1575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init</a:t>
            </a:r>
            <a:r>
              <a:rPr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575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argc</a:t>
            </a:r>
            <a:r>
              <a:rPr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575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argv</a:t>
            </a:r>
            <a:r>
              <a:rPr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auto node = std::</a:t>
            </a:r>
            <a:r>
              <a:rPr sz="1575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make_shared</a:t>
            </a:r>
            <a:r>
              <a:rPr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&lt;</a:t>
            </a:r>
            <a:r>
              <a:rPr lang="en-US" sz="1575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X</a:t>
            </a:r>
            <a:r>
              <a:rPr lang="en-US" altLang="zh-CN" sz="1575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inhuoRos</a:t>
            </a:r>
            <a:r>
              <a:rPr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&gt;();</a:t>
            </a: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575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rclcpp</a:t>
            </a:r>
            <a:r>
              <a:rPr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::spin(node);</a:t>
            </a: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575" b="0" dirty="0" err="1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rclcpp</a:t>
            </a:r>
            <a:r>
              <a:rPr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::shutdown();</a:t>
            </a: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return 0;</a:t>
            </a: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30" name="本例 spin 使用单线程执行器，在当前线程调度定时器和">
            <a:extLst>
              <a:ext uri="{FF2B5EF4-FFF2-40B4-BE49-F238E27FC236}">
                <a16:creationId xmlns:a16="http://schemas.microsoft.com/office/drawing/2014/main" id="{543BB83C-5597-4FC0-9859-EC08631F9436}"/>
              </a:ext>
            </a:extLst>
          </p:cNvPr>
          <p:cNvSpPr>
            <a:spLocks noGrp="1"/>
          </p:cNvSpPr>
          <p:nvPr/>
        </p:nvSpPr>
        <p:spPr>
          <a:xfrm>
            <a:off x="476250" y="4276725"/>
            <a:ext cx="819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38" b="0">
                <a:solidFill>
                  <a:srgbClr val="646464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646464"/>
                </a:solidFill>
                <a:latin typeface="微软雅黑"/>
                <a:ea typeface="微软雅黑"/>
                <a:cs typeface="微软雅黑"/>
              </a:rPr>
              <a:t>本例 spin 使用单线程执行器，在当前线程调度定时器和订阅回调。</a:t>
            </a:r>
          </a:p>
        </p:txBody>
      </p:sp>
    </p:spTree>
    <p:extLst>
      <p:ext uri="{BB962C8B-B14F-4D97-AF65-F5344CB8AC3E}">
        <p14:creationId xmlns:p14="http://schemas.microsoft.com/office/powerpoint/2010/main" val="499111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65" y="153233"/>
            <a:ext cx="395424" cy="40046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7E06F2D-D8C9-3DA4-4E34-C69B3526808D}"/>
              </a:ext>
            </a:extLst>
          </p:cNvPr>
          <p:cNvSpPr>
            <a:spLocks noGrp="1"/>
          </p:cNvSpPr>
          <p:nvPr/>
        </p:nvSpPr>
        <p:spPr>
          <a:xfrm>
            <a:off x="1403648" y="350819"/>
            <a:ext cx="1729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None/>
            </a:pPr>
            <a:r>
              <a:rPr sz="1050">
                <a:solidFill>
                  <a:prstClr val="black"/>
                </a:solidFill>
                <a:latin typeface="Charlemagne Std"/>
                <a:ea typeface="Charlemagne Std"/>
                <a:cs typeface="Charlemagne Std"/>
              </a:rPr>
              <a:t> BIT Dream Chaser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292859-8F3E-9CD6-1815-165CECBA1CCB}"/>
              </a:ext>
            </a:extLst>
          </p:cNvPr>
          <p:cNvSpPr>
            <a:spLocks noGrp="1"/>
          </p:cNvSpPr>
          <p:nvPr/>
        </p:nvSpPr>
        <p:spPr>
          <a:xfrm>
            <a:off x="796648" y="153232"/>
            <a:ext cx="2767240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EFEDCB-7BB4-117F-27DC-C535FCE6A36D}"/>
              </a:ext>
            </a:extLst>
          </p:cNvPr>
          <p:cNvSpPr>
            <a:spLocks noGrp="1"/>
          </p:cNvSpPr>
          <p:nvPr/>
        </p:nvSpPr>
        <p:spPr>
          <a:xfrm>
            <a:off x="8460432" y="167196"/>
            <a:ext cx="683568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E3F00F-EC0F-F6FA-F695-1FAA9383A0E8}"/>
              </a:ext>
            </a:extLst>
          </p:cNvPr>
          <p:cNvSpPr>
            <a:spLocks noGrp="1"/>
          </p:cNvSpPr>
          <p:nvPr/>
        </p:nvSpPr>
        <p:spPr>
          <a:xfrm flipV="1">
            <a:off x="6840015" y="4939227"/>
            <a:ext cx="2303986" cy="204273"/>
          </a:xfrm>
          <a:prstGeom prst="rect">
            <a:avLst/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DC43EF-7288-3D6D-2169-D2B946B2A102}"/>
              </a:ext>
            </a:extLst>
          </p:cNvPr>
          <p:cNvSpPr>
            <a:spLocks noGrp="1"/>
          </p:cNvSpPr>
          <p:nvPr/>
        </p:nvSpPr>
        <p:spPr>
          <a:xfrm>
            <a:off x="1" y="4939309"/>
            <a:ext cx="6840014" cy="204192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1" name="标题 20">
            <a:extLst>
              <a:ext uri="{FF2B5EF4-FFF2-40B4-BE49-F238E27FC236}">
                <a16:creationId xmlns:a16="http://schemas.microsoft.com/office/drawing/2014/main" id="{F0A5FC05-514E-B29E-DCB7-8EBC41822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1425" y="180975"/>
            <a:ext cx="4610100" cy="552450"/>
          </a:xfr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>
                <a:solidFill>
                  <a:srgbClr val="C00000"/>
                </a:solidFill>
                <a:latin typeface="宋体"/>
                <a:ea typeface="宋体"/>
                <a:cs typeface="宋体"/>
              </a:defRPr>
            </a:pPr>
            <a:r>
              <a:rPr sz="2100" b="0" dirty="0" err="1">
                <a:solidFill>
                  <a:srgbClr val="C00000"/>
                </a:solidFill>
                <a:latin typeface="宋体"/>
                <a:ea typeface="宋体"/>
                <a:cs typeface="宋体"/>
              </a:rPr>
              <a:t>定时器控制视频读取</a:t>
            </a:r>
          </a:p>
        </p:txBody>
      </p:sp>
      <p:sp>
        <p:nvSpPr>
          <p:cNvPr id="26" name="slide-number">
            <a:extLst>
              <a:ext uri="{FF2B5EF4-FFF2-40B4-BE49-F238E27FC236}">
                <a16:creationId xmlns:a16="http://schemas.microsoft.com/office/drawing/2014/main" id="{CC8C3C19-5C60-4C98-8B18-1887E7C937C7}"/>
              </a:ext>
            </a:extLst>
          </p:cNvPr>
          <p:cNvSpPr>
            <a:spLocks noGrp="1"/>
          </p:cNvSpPr>
          <p:nvPr/>
        </p:nvSpPr>
        <p:spPr>
          <a:xfrm>
            <a:off x="8562975" y="4962525"/>
            <a:ext cx="36195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100" name="revision-1">
            <a:extLst>
              <a:ext uri="{FF2B5EF4-FFF2-40B4-BE49-F238E27FC236}">
                <a16:creationId xmlns:a16="http://schemas.microsoft.com/office/drawing/2014/main" id="{A09D2FAC-6B62-4618-828B-833737A05E10}"/>
              </a:ext>
            </a:extLst>
          </p:cNvPr>
          <p:cNvSpPr>
            <a:spLocks noGrp="1"/>
          </p:cNvSpPr>
          <p:nvPr/>
        </p:nvSpPr>
        <p:spPr>
          <a:xfrm>
            <a:off x="476250" y="981075"/>
            <a:ext cx="8191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发布者设置话题，定时器按视频帧率调用读取函数。</a:t>
            </a:r>
          </a:p>
        </p:txBody>
      </p:sp>
      <p:sp>
        <p:nvSpPr>
          <p:cNvPr id="101" name="revision-2">
            <a:extLst>
              <a:ext uri="{FF2B5EF4-FFF2-40B4-BE49-F238E27FC236}">
                <a16:creationId xmlns:a16="http://schemas.microsoft.com/office/drawing/2014/main" id="{8BEBE784-4227-4091-B7FF-A6DC0BD4E188}"/>
              </a:ext>
            </a:extLst>
          </p:cNvPr>
          <p:cNvSpPr>
            <a:spLocks noGrp="1"/>
          </p:cNvSpPr>
          <p:nvPr/>
        </p:nvSpPr>
        <p:spPr>
          <a:xfrm>
            <a:off x="476250" y="1552575"/>
            <a:ext cx="8191500" cy="2000250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  <p:txBody>
          <a:bodyPr wrap="square" lIns="123825" tIns="104775" rIns="123825" bIns="104775" anchor="t">
            <a:noAutofit/>
          </a:bodyPr>
          <a:lstStyle/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image_pub_ = create_publisher&lt;Image&gt;(</a:t>
            </a: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"image_raw", rclcpp::SensorDataQoS().keep_last(1));</a:t>
            </a:r>
          </a:p>
          <a:p>
            <a:endParaRPr sz="1575" b="0">
              <a:solidFill>
                <a:srgbClr val="F3F3F3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timer_ = create_wall_timer(</a:t>
            </a: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std::chrono::duration&lt;double&gt;(1.0 / fps),</a:t>
            </a: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[this]() { publish_frame(); });</a:t>
            </a:r>
          </a:p>
        </p:txBody>
      </p:sp>
      <p:sp>
        <p:nvSpPr>
          <p:cNvPr id="102" name="revision-3">
            <a:extLst>
              <a:ext uri="{FF2B5EF4-FFF2-40B4-BE49-F238E27FC236}">
                <a16:creationId xmlns:a16="http://schemas.microsoft.com/office/drawing/2014/main" id="{44B1A76D-988A-4B65-8AFD-CA7AD28A10B3}"/>
              </a:ext>
            </a:extLst>
          </p:cNvPr>
          <p:cNvSpPr>
            <a:spLocks noGrp="1"/>
          </p:cNvSpPr>
          <p:nvPr/>
        </p:nvSpPr>
        <p:spPr>
          <a:xfrm>
            <a:off x="476250" y="3790950"/>
            <a:ext cx="8191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publish_frame() 读取一帧，再调用 image_pub_-&gt;publish(*message)。</a:t>
            </a:r>
          </a:p>
        </p:txBody>
      </p:sp>
      <p:sp>
        <p:nvSpPr>
          <p:cNvPr id="103" name="revision-4">
            <a:extLst>
              <a:ext uri="{FF2B5EF4-FFF2-40B4-BE49-F238E27FC236}">
                <a16:creationId xmlns:a16="http://schemas.microsoft.com/office/drawing/2014/main" id="{E2D046EF-FA22-4E70-AB99-D92921C08972}"/>
              </a:ext>
            </a:extLst>
          </p:cNvPr>
          <p:cNvSpPr>
            <a:spLocks noGrp="1"/>
          </p:cNvSpPr>
          <p:nvPr/>
        </p:nvSpPr>
        <p:spPr>
          <a:xfrm>
            <a:off x="476250" y="4267200"/>
            <a:ext cx="8191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38" b="0">
                <a:solidFill>
                  <a:srgbClr val="646464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646464"/>
                </a:solidFill>
                <a:latin typeface="微软雅黑"/>
                <a:ea typeface="微软雅黑"/>
                <a:cs typeface="微软雅黑"/>
              </a:rPr>
              <a:t>Image 是 sensor_msgs::msg::Image 的别名。发布者和定时器保存为成员变量。</a:t>
            </a:r>
          </a:p>
        </p:txBody>
      </p:sp>
    </p:spTree>
    <p:extLst>
      <p:ext uri="{BB962C8B-B14F-4D97-AF65-F5344CB8AC3E}">
        <p14:creationId xmlns:p14="http://schemas.microsoft.com/office/powerpoint/2010/main" val="1494994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65" y="153233"/>
            <a:ext cx="395424" cy="40046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7E06F2D-D8C9-3DA4-4E34-C69B3526808D}"/>
              </a:ext>
            </a:extLst>
          </p:cNvPr>
          <p:cNvSpPr>
            <a:spLocks noGrp="1"/>
          </p:cNvSpPr>
          <p:nvPr/>
        </p:nvSpPr>
        <p:spPr>
          <a:xfrm>
            <a:off x="1403648" y="350819"/>
            <a:ext cx="1729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None/>
            </a:pPr>
            <a:r>
              <a:rPr sz="1050">
                <a:solidFill>
                  <a:prstClr val="black"/>
                </a:solidFill>
                <a:latin typeface="Charlemagne Std"/>
                <a:ea typeface="Charlemagne Std"/>
                <a:cs typeface="Charlemagne Std"/>
              </a:rPr>
              <a:t> BIT Dream Chaser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292859-8F3E-9CD6-1815-165CECBA1CCB}"/>
              </a:ext>
            </a:extLst>
          </p:cNvPr>
          <p:cNvSpPr>
            <a:spLocks noGrp="1"/>
          </p:cNvSpPr>
          <p:nvPr/>
        </p:nvSpPr>
        <p:spPr>
          <a:xfrm>
            <a:off x="796648" y="153232"/>
            <a:ext cx="2767240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EFEDCB-7BB4-117F-27DC-C535FCE6A36D}"/>
              </a:ext>
            </a:extLst>
          </p:cNvPr>
          <p:cNvSpPr>
            <a:spLocks noGrp="1"/>
          </p:cNvSpPr>
          <p:nvPr/>
        </p:nvSpPr>
        <p:spPr>
          <a:xfrm>
            <a:off x="8460432" y="167196"/>
            <a:ext cx="683568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E3F00F-EC0F-F6FA-F695-1FAA9383A0E8}"/>
              </a:ext>
            </a:extLst>
          </p:cNvPr>
          <p:cNvSpPr>
            <a:spLocks noGrp="1"/>
          </p:cNvSpPr>
          <p:nvPr/>
        </p:nvSpPr>
        <p:spPr>
          <a:xfrm flipV="1">
            <a:off x="6840015" y="4939227"/>
            <a:ext cx="2303986" cy="204273"/>
          </a:xfrm>
          <a:prstGeom prst="rect">
            <a:avLst/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DC43EF-7288-3D6D-2169-D2B946B2A102}"/>
              </a:ext>
            </a:extLst>
          </p:cNvPr>
          <p:cNvSpPr>
            <a:spLocks noGrp="1"/>
          </p:cNvSpPr>
          <p:nvPr/>
        </p:nvSpPr>
        <p:spPr>
          <a:xfrm>
            <a:off x="1" y="4939309"/>
            <a:ext cx="6840014" cy="204192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1" name="标题 20">
            <a:extLst>
              <a:ext uri="{FF2B5EF4-FFF2-40B4-BE49-F238E27FC236}">
                <a16:creationId xmlns:a16="http://schemas.microsoft.com/office/drawing/2014/main" id="{F0A5FC05-514E-B29E-DCB7-8EBC41822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1425" y="180975"/>
            <a:ext cx="4610100" cy="552450"/>
          </a:xfr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>
                <a:solidFill>
                  <a:srgbClr val="C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C00000"/>
                </a:solidFill>
                <a:latin typeface="宋体"/>
                <a:ea typeface="宋体"/>
                <a:cs typeface="宋体"/>
              </a:rPr>
              <a:t>订阅与回调函数</a:t>
            </a:r>
          </a:p>
        </p:txBody>
      </p:sp>
      <p:sp>
        <p:nvSpPr>
          <p:cNvPr id="26" name="slide-number">
            <a:extLst>
              <a:ext uri="{FF2B5EF4-FFF2-40B4-BE49-F238E27FC236}">
                <a16:creationId xmlns:a16="http://schemas.microsoft.com/office/drawing/2014/main" id="{CC8C3C19-5C60-4C98-8B18-1887E7C937C7}"/>
              </a:ext>
            </a:extLst>
          </p:cNvPr>
          <p:cNvSpPr>
            <a:spLocks noGrp="1"/>
          </p:cNvSpPr>
          <p:nvPr/>
        </p:nvSpPr>
        <p:spPr>
          <a:xfrm>
            <a:off x="8562975" y="4962525"/>
            <a:ext cx="36195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100" name="revision-5">
            <a:extLst>
              <a:ext uri="{FF2B5EF4-FFF2-40B4-BE49-F238E27FC236}">
                <a16:creationId xmlns:a16="http://schemas.microsoft.com/office/drawing/2014/main" id="{884FC946-AD43-4EEA-833E-FC16C73846AE}"/>
              </a:ext>
            </a:extLst>
          </p:cNvPr>
          <p:cNvSpPr>
            <a:spLocks noGrp="1"/>
          </p:cNvSpPr>
          <p:nvPr/>
        </p:nvSpPr>
        <p:spPr>
          <a:xfrm>
            <a:off x="476250" y="981075"/>
            <a:ext cx="8191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订阅时指定收到消息后执行的函数。</a:t>
            </a:r>
          </a:p>
        </p:txBody>
      </p:sp>
      <p:sp>
        <p:nvSpPr>
          <p:cNvPr id="101" name="revision-6">
            <a:extLst>
              <a:ext uri="{FF2B5EF4-FFF2-40B4-BE49-F238E27FC236}">
                <a16:creationId xmlns:a16="http://schemas.microsoft.com/office/drawing/2014/main" id="{ED7AB571-E617-4697-A5BA-D224CB9BB8D5}"/>
              </a:ext>
            </a:extLst>
          </p:cNvPr>
          <p:cNvSpPr>
            <a:spLocks noGrp="1"/>
          </p:cNvSpPr>
          <p:nvPr/>
        </p:nvSpPr>
        <p:spPr>
          <a:xfrm>
            <a:off x="476250" y="1533525"/>
            <a:ext cx="8191500" cy="1628775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  <p:txBody>
          <a:bodyPr wrap="square" lIns="123825" tIns="104775" rIns="123825" bIns="104775" anchor="t">
            <a:noAutofit/>
          </a:bodyPr>
          <a:lstStyle/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image_sub_ = create_subscription&lt;Image&gt;(</a:t>
            </a: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"image_raw", qos,</a:t>
            </a: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[this](Image::ConstSharedPtr message) {</a:t>
            </a: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  on_image(message);</a:t>
            </a: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});</a:t>
            </a:r>
          </a:p>
        </p:txBody>
      </p:sp>
      <p:sp>
        <p:nvSpPr>
          <p:cNvPr id="102" name="revision-7">
            <a:extLst>
              <a:ext uri="{FF2B5EF4-FFF2-40B4-BE49-F238E27FC236}">
                <a16:creationId xmlns:a16="http://schemas.microsoft.com/office/drawing/2014/main" id="{E06DDA33-C07E-4ADD-8775-5CA3E7919631}"/>
              </a:ext>
            </a:extLst>
          </p:cNvPr>
          <p:cNvSpPr>
            <a:spLocks noGrp="1"/>
          </p:cNvSpPr>
          <p:nvPr/>
        </p:nvSpPr>
        <p:spPr>
          <a:xfrm>
            <a:off x="476250" y="3429000"/>
            <a:ext cx="819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消息类型、话题名、QoS、回调函数</a:t>
            </a:r>
          </a:p>
        </p:txBody>
      </p:sp>
      <p:sp>
        <p:nvSpPr>
          <p:cNvPr id="103" name="revision-8">
            <a:extLst>
              <a:ext uri="{FF2B5EF4-FFF2-40B4-BE49-F238E27FC236}">
                <a16:creationId xmlns:a16="http://schemas.microsoft.com/office/drawing/2014/main" id="{FE501740-BDA9-4862-A507-9270974BD952}"/>
              </a:ext>
            </a:extLst>
          </p:cNvPr>
          <p:cNvSpPr>
            <a:spLocks noGrp="1"/>
          </p:cNvSpPr>
          <p:nvPr/>
        </p:nvSpPr>
        <p:spPr>
          <a:xfrm>
            <a:off x="476250" y="3905250"/>
            <a:ext cx="819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on_image() 中把消息转换为图像，再调用 imshow。</a:t>
            </a:r>
          </a:p>
        </p:txBody>
      </p:sp>
    </p:spTree>
    <p:extLst>
      <p:ext uri="{BB962C8B-B14F-4D97-AF65-F5344CB8AC3E}">
        <p14:creationId xmlns:p14="http://schemas.microsoft.com/office/powerpoint/2010/main" val="766696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65" y="153233"/>
            <a:ext cx="395424" cy="40046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7E06F2D-D8C9-3DA4-4E34-C69B3526808D}"/>
              </a:ext>
            </a:extLst>
          </p:cNvPr>
          <p:cNvSpPr>
            <a:spLocks noGrp="1"/>
          </p:cNvSpPr>
          <p:nvPr/>
        </p:nvSpPr>
        <p:spPr>
          <a:xfrm>
            <a:off x="1403648" y="350819"/>
            <a:ext cx="1729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None/>
            </a:pPr>
            <a:r>
              <a:rPr sz="1050">
                <a:solidFill>
                  <a:prstClr val="black"/>
                </a:solidFill>
                <a:latin typeface="Charlemagne Std"/>
                <a:ea typeface="Charlemagne Std"/>
                <a:cs typeface="Charlemagne Std"/>
              </a:rPr>
              <a:t> BIT Dream Chaser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292859-8F3E-9CD6-1815-165CECBA1CCB}"/>
              </a:ext>
            </a:extLst>
          </p:cNvPr>
          <p:cNvSpPr>
            <a:spLocks noGrp="1"/>
          </p:cNvSpPr>
          <p:nvPr/>
        </p:nvSpPr>
        <p:spPr>
          <a:xfrm>
            <a:off x="796648" y="153232"/>
            <a:ext cx="2767240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EFEDCB-7BB4-117F-27DC-C535FCE6A36D}"/>
              </a:ext>
            </a:extLst>
          </p:cNvPr>
          <p:cNvSpPr>
            <a:spLocks noGrp="1"/>
          </p:cNvSpPr>
          <p:nvPr/>
        </p:nvSpPr>
        <p:spPr>
          <a:xfrm>
            <a:off x="8460432" y="167196"/>
            <a:ext cx="683568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E3F00F-EC0F-F6FA-F695-1FAA9383A0E8}"/>
              </a:ext>
            </a:extLst>
          </p:cNvPr>
          <p:cNvSpPr>
            <a:spLocks noGrp="1"/>
          </p:cNvSpPr>
          <p:nvPr/>
        </p:nvSpPr>
        <p:spPr>
          <a:xfrm flipV="1">
            <a:off x="6840015" y="4939227"/>
            <a:ext cx="2303986" cy="204273"/>
          </a:xfrm>
          <a:prstGeom prst="rect">
            <a:avLst/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DC43EF-7288-3D6D-2169-D2B946B2A102}"/>
              </a:ext>
            </a:extLst>
          </p:cNvPr>
          <p:cNvSpPr>
            <a:spLocks noGrp="1"/>
          </p:cNvSpPr>
          <p:nvPr/>
        </p:nvSpPr>
        <p:spPr>
          <a:xfrm>
            <a:off x="1" y="4939309"/>
            <a:ext cx="6840014" cy="204192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1" name="标题 20">
            <a:extLst>
              <a:ext uri="{FF2B5EF4-FFF2-40B4-BE49-F238E27FC236}">
                <a16:creationId xmlns:a16="http://schemas.microsoft.com/office/drawing/2014/main" id="{F0A5FC05-514E-B29E-DCB7-8EBC41822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1425" y="180975"/>
            <a:ext cx="4610100" cy="552450"/>
          </a:xfr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>
                <a:solidFill>
                  <a:srgbClr val="C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C00000"/>
                </a:solidFill>
                <a:latin typeface="宋体"/>
                <a:ea typeface="宋体"/>
                <a:cs typeface="宋体"/>
              </a:rPr>
              <a:t>回调函数的执行</a:t>
            </a:r>
          </a:p>
        </p:txBody>
      </p:sp>
      <p:sp>
        <p:nvSpPr>
          <p:cNvPr id="26" name="slide-number">
            <a:extLst>
              <a:ext uri="{FF2B5EF4-FFF2-40B4-BE49-F238E27FC236}">
                <a16:creationId xmlns:a16="http://schemas.microsoft.com/office/drawing/2014/main" id="{CC8C3C19-5C60-4C98-8B18-1887E7C937C7}"/>
              </a:ext>
            </a:extLst>
          </p:cNvPr>
          <p:cNvSpPr>
            <a:spLocks noGrp="1"/>
          </p:cNvSpPr>
          <p:nvPr/>
        </p:nvSpPr>
        <p:spPr>
          <a:xfrm>
            <a:off x="8562975" y="4962525"/>
            <a:ext cx="36195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100" name="revision-9">
            <a:extLst>
              <a:ext uri="{FF2B5EF4-FFF2-40B4-BE49-F238E27FC236}">
                <a16:creationId xmlns:a16="http://schemas.microsoft.com/office/drawing/2014/main" id="{28F08F5F-1060-4F06-B812-A6E860BDB385}"/>
              </a:ext>
            </a:extLst>
          </p:cNvPr>
          <p:cNvSpPr>
            <a:spLocks noGrp="1"/>
          </p:cNvSpPr>
          <p:nvPr/>
        </p:nvSpPr>
        <p:spPr>
          <a:xfrm>
            <a:off x="476250" y="981075"/>
            <a:ext cx="8191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spin 等待事件，在相应事件发生时执行回调。</a:t>
            </a:r>
          </a:p>
        </p:txBody>
      </p:sp>
      <p:sp>
        <p:nvSpPr>
          <p:cNvPr id="101" name="revision-10">
            <a:extLst>
              <a:ext uri="{FF2B5EF4-FFF2-40B4-BE49-F238E27FC236}">
                <a16:creationId xmlns:a16="http://schemas.microsoft.com/office/drawing/2014/main" id="{3EAD9568-DD61-4CFE-AF8F-A4E929EC7A91}"/>
              </a:ext>
            </a:extLst>
          </p:cNvPr>
          <p:cNvSpPr>
            <a:spLocks noGrp="1"/>
          </p:cNvSpPr>
          <p:nvPr/>
        </p:nvSpPr>
        <p:spPr>
          <a:xfrm>
            <a:off x="476250" y="1657350"/>
            <a:ext cx="5524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2" name="revision-11">
            <a:extLst>
              <a:ext uri="{FF2B5EF4-FFF2-40B4-BE49-F238E27FC236}">
                <a16:creationId xmlns:a16="http://schemas.microsoft.com/office/drawing/2014/main" id="{6AEC1FFB-5330-4A8C-BFF2-94B231CF2CB7}"/>
              </a:ext>
            </a:extLst>
          </p:cNvPr>
          <p:cNvSpPr>
            <a:spLocks noGrp="1"/>
          </p:cNvSpPr>
          <p:nvPr/>
        </p:nvSpPr>
        <p:spPr>
          <a:xfrm>
            <a:off x="1200150" y="1657350"/>
            <a:ext cx="7239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定时器到期</a:t>
            </a:r>
          </a:p>
        </p:txBody>
      </p:sp>
      <p:sp>
        <p:nvSpPr>
          <p:cNvPr id="103" name="revision-12">
            <a:extLst>
              <a:ext uri="{FF2B5EF4-FFF2-40B4-BE49-F238E27FC236}">
                <a16:creationId xmlns:a16="http://schemas.microsoft.com/office/drawing/2014/main" id="{C4F6C14C-7410-48CE-B64A-265F1E3AFA3E}"/>
              </a:ext>
            </a:extLst>
          </p:cNvPr>
          <p:cNvSpPr>
            <a:spLocks noGrp="1"/>
          </p:cNvSpPr>
          <p:nvPr/>
        </p:nvSpPr>
        <p:spPr>
          <a:xfrm>
            <a:off x="1200150" y="2009775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读取一帧视频，发布后返回</a:t>
            </a:r>
          </a:p>
        </p:txBody>
      </p:sp>
      <p:sp>
        <p:nvSpPr>
          <p:cNvPr id="104" name="revision-13">
            <a:extLst>
              <a:ext uri="{FF2B5EF4-FFF2-40B4-BE49-F238E27FC236}">
                <a16:creationId xmlns:a16="http://schemas.microsoft.com/office/drawing/2014/main" id="{2557AA2C-FF21-4B70-9975-DFB17ECF2620}"/>
              </a:ext>
            </a:extLst>
          </p:cNvPr>
          <p:cNvSpPr>
            <a:spLocks noGrp="1"/>
          </p:cNvSpPr>
          <p:nvPr/>
        </p:nvSpPr>
        <p:spPr>
          <a:xfrm>
            <a:off x="476250" y="2438400"/>
            <a:ext cx="5524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5" name="revision-14">
            <a:extLst>
              <a:ext uri="{FF2B5EF4-FFF2-40B4-BE49-F238E27FC236}">
                <a16:creationId xmlns:a16="http://schemas.microsoft.com/office/drawing/2014/main" id="{A0EFB279-8DD8-48E0-AFF3-8F644DBB468B}"/>
              </a:ext>
            </a:extLst>
          </p:cNvPr>
          <p:cNvSpPr>
            <a:spLocks noGrp="1"/>
          </p:cNvSpPr>
          <p:nvPr/>
        </p:nvSpPr>
        <p:spPr>
          <a:xfrm>
            <a:off x="1200150" y="2438400"/>
            <a:ext cx="7239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收到图像消息</a:t>
            </a:r>
          </a:p>
        </p:txBody>
      </p:sp>
      <p:sp>
        <p:nvSpPr>
          <p:cNvPr id="106" name="revision-15">
            <a:extLst>
              <a:ext uri="{FF2B5EF4-FFF2-40B4-BE49-F238E27FC236}">
                <a16:creationId xmlns:a16="http://schemas.microsoft.com/office/drawing/2014/main" id="{51D88034-E26B-408D-AC7B-B19C0B539BCB}"/>
              </a:ext>
            </a:extLst>
          </p:cNvPr>
          <p:cNvSpPr>
            <a:spLocks noGrp="1"/>
          </p:cNvSpPr>
          <p:nvPr/>
        </p:nvSpPr>
        <p:spPr>
          <a:xfrm>
            <a:off x="1200150" y="2790825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执行 on_image()，显示后返回</a:t>
            </a:r>
          </a:p>
        </p:txBody>
      </p:sp>
      <p:sp>
        <p:nvSpPr>
          <p:cNvPr id="107" name="revision-16">
            <a:extLst>
              <a:ext uri="{FF2B5EF4-FFF2-40B4-BE49-F238E27FC236}">
                <a16:creationId xmlns:a16="http://schemas.microsoft.com/office/drawing/2014/main" id="{62850DD2-CFB0-4BDD-BF26-D4FEAEA91E2C}"/>
              </a:ext>
            </a:extLst>
          </p:cNvPr>
          <p:cNvSpPr>
            <a:spLocks noGrp="1"/>
          </p:cNvSpPr>
          <p:nvPr/>
        </p:nvSpPr>
        <p:spPr>
          <a:xfrm>
            <a:off x="476250" y="3219450"/>
            <a:ext cx="5524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08" name="revision-17">
            <a:extLst>
              <a:ext uri="{FF2B5EF4-FFF2-40B4-BE49-F238E27FC236}">
                <a16:creationId xmlns:a16="http://schemas.microsoft.com/office/drawing/2014/main" id="{A3E1123C-C6B9-4ED0-9AF1-55F7587BDEFB}"/>
              </a:ext>
            </a:extLst>
          </p:cNvPr>
          <p:cNvSpPr>
            <a:spLocks noGrp="1"/>
          </p:cNvSpPr>
          <p:nvPr/>
        </p:nvSpPr>
        <p:spPr>
          <a:xfrm>
            <a:off x="1200150" y="3219450"/>
            <a:ext cx="7239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窗口事件处理</a:t>
            </a:r>
          </a:p>
        </p:txBody>
      </p:sp>
      <p:sp>
        <p:nvSpPr>
          <p:cNvPr id="109" name="revision-18">
            <a:extLst>
              <a:ext uri="{FF2B5EF4-FFF2-40B4-BE49-F238E27FC236}">
                <a16:creationId xmlns:a16="http://schemas.microsoft.com/office/drawing/2014/main" id="{344158A5-7EC7-407D-8B33-350D9E589C61}"/>
              </a:ext>
            </a:extLst>
          </p:cNvPr>
          <p:cNvSpPr>
            <a:spLocks noGrp="1"/>
          </p:cNvSpPr>
          <p:nvPr/>
        </p:nvSpPr>
        <p:spPr>
          <a:xfrm>
            <a:off x="1200150" y="3571875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定时执行 waitKey(1)，保持窗口响应</a:t>
            </a:r>
          </a:p>
        </p:txBody>
      </p:sp>
      <p:sp>
        <p:nvSpPr>
          <p:cNvPr id="110" name="revision-19">
            <a:extLst>
              <a:ext uri="{FF2B5EF4-FFF2-40B4-BE49-F238E27FC236}">
                <a16:creationId xmlns:a16="http://schemas.microsoft.com/office/drawing/2014/main" id="{83E73C87-977E-4C4E-9EDF-428AE2D5E4F8}"/>
              </a:ext>
            </a:extLst>
          </p:cNvPr>
          <p:cNvSpPr>
            <a:spLocks noGrp="1"/>
          </p:cNvSpPr>
          <p:nvPr/>
        </p:nvSpPr>
        <p:spPr>
          <a:xfrm>
            <a:off x="476250" y="4267200"/>
            <a:ext cx="8191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38" b="0">
                <a:solidFill>
                  <a:srgbClr val="646464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646464"/>
                </a:solidFill>
                <a:latin typeface="微软雅黑"/>
                <a:ea typeface="微软雅黑"/>
                <a:cs typeface="微软雅黑"/>
              </a:rPr>
              <a:t>本例单线程执行回调。长循环或 waitKey(0) 会阻塞同一执行器里的其他回调。</a:t>
            </a:r>
          </a:p>
        </p:txBody>
      </p:sp>
    </p:spTree>
    <p:extLst>
      <p:ext uri="{BB962C8B-B14F-4D97-AF65-F5344CB8AC3E}">
        <p14:creationId xmlns:p14="http://schemas.microsoft.com/office/powerpoint/2010/main" val="2003741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3"/>
          <p:cNvPicPr>
            <a:picLocks noChangeAspect="1"/>
          </p:cNvPicPr>
          <p:nvPr/>
        </p:nvPicPr>
        <p:blipFill rotWithShape="1">
          <a:blip r:embed="rId3"/>
          <a:srcRect l="4578" r="11925" b="8088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6" name="等腰三角形 5">
            <a:extLst>
              <a:ext uri="{FF2B5EF4-FFF2-40B4-BE49-F238E27FC236}">
                <a16:creationId xmlns:a16="http://schemas.microsoft.com/office/drawing/2014/main" id="{1271CB4A-830F-4D32-95E7-0248603F3C32}"/>
              </a:ext>
            </a:extLst>
          </p:cNvPr>
          <p:cNvSpPr>
            <a:spLocks noGrp="1"/>
          </p:cNvSpPr>
          <p:nvPr/>
        </p:nvSpPr>
        <p:spPr>
          <a:xfrm rot="10800000" flipH="1" flipV="1">
            <a:off x="0" y="3507854"/>
            <a:ext cx="2555776" cy="1656184"/>
          </a:xfrm>
          <a:prstGeom prst="triangle">
            <a:avLst>
              <a:gd name="adj" fmla="val 50259"/>
            </a:avLst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B4B2987D-4CDF-4827-9F87-AFAF9C9B3DA3}"/>
              </a:ext>
            </a:extLst>
          </p:cNvPr>
          <p:cNvSpPr>
            <a:spLocks noGrp="1"/>
          </p:cNvSpPr>
          <p:nvPr/>
        </p:nvSpPr>
        <p:spPr>
          <a:xfrm>
            <a:off x="1675116" y="267494"/>
            <a:ext cx="7468884" cy="4896544"/>
          </a:xfrm>
          <a:prstGeom prst="triangle">
            <a:avLst>
              <a:gd name="adj" fmla="val 48962"/>
            </a:avLst>
          </a:prstGeom>
          <a:solidFill>
            <a:schemeClr val="tx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34F1BDC-9F04-4853-89EF-2A27C134AAF2}"/>
              </a:ext>
            </a:extLst>
          </p:cNvPr>
          <p:cNvSpPr>
            <a:spLocks noGrp="1"/>
          </p:cNvSpPr>
          <p:nvPr/>
        </p:nvSpPr>
        <p:spPr>
          <a:xfrm>
            <a:off x="5004048" y="1594123"/>
            <a:ext cx="727404" cy="727404"/>
          </a:xfrm>
          <a:prstGeom prst="ellipse">
            <a:avLst/>
          </a:prstGeom>
          <a:noFill/>
          <a:ln>
            <a:solidFill>
              <a:srgbClr val="D2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A68CC3-60BD-4A89-AE05-9B053A9C88C4}"/>
              </a:ext>
            </a:extLst>
          </p:cNvPr>
          <p:cNvSpPr>
            <a:spLocks noGrp="1"/>
          </p:cNvSpPr>
          <p:nvPr/>
        </p:nvSpPr>
        <p:spPr>
          <a:xfrm>
            <a:off x="5220072" y="1635646"/>
            <a:ext cx="553818" cy="7994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4000" b="0">
                <a:solidFill>
                  <a:srgbClr val="D20000"/>
                </a:solidFill>
                <a:latin typeface="Impact"/>
                <a:ea typeface="Impact"/>
                <a:cs typeface="Impact"/>
              </a:defRPr>
            </a:pPr>
            <a:r>
              <a:rPr sz="4000" b="0">
                <a:solidFill>
                  <a:srgbClr val="D20000"/>
                </a:solidFill>
                <a:latin typeface="Impact"/>
                <a:ea typeface="Impact"/>
                <a:cs typeface="Impact"/>
              </a:rPr>
              <a:t>4</a:t>
            </a:r>
            <a:endParaRPr sz="4000">
              <a:solidFill>
                <a:srgbClr val="D20000"/>
              </a:solidFill>
              <a:latin typeface="Impact"/>
              <a:ea typeface="Impact"/>
              <a:cs typeface="Impac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B8E7DDD-8590-4E79-9960-580910E39DC4}"/>
              </a:ext>
            </a:extLst>
          </p:cNvPr>
          <p:cNvSpPr>
            <a:spLocks noGrp="1"/>
          </p:cNvSpPr>
          <p:nvPr/>
        </p:nvSpPr>
        <p:spPr>
          <a:xfrm>
            <a:off x="3238500" y="2647950"/>
            <a:ext cx="4543425" cy="561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pPr algn="ctr">
              <a:buNone/>
              <a:defRPr sz="29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sz="2925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Topic、</a:t>
            </a:r>
            <a:r>
              <a:rPr lang="zh-CN" altLang="en-US" sz="2925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图像与 </a:t>
            </a:r>
            <a:r>
              <a:rPr lang="en-US" sz="2925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QoS</a:t>
            </a:r>
            <a:endParaRPr sz="2925" b="0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EDA5A8-CFF1-4DC1-A306-CA155186875C}"/>
              </a:ext>
            </a:extLst>
          </p:cNvPr>
          <p:cNvSpPr>
            <a:spLocks noGrp="1"/>
          </p:cNvSpPr>
          <p:nvPr/>
        </p:nvSpPr>
        <p:spPr>
          <a:xfrm>
            <a:off x="3238500" y="3267075"/>
            <a:ext cx="3319780" cy="3314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TOPICS</a:t>
            </a:r>
            <a:r>
              <a:rPr lang="zh-CN" altLang="en-US" sz="1575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，</a:t>
            </a: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IMAGES</a:t>
            </a:r>
            <a:r>
              <a:rPr lang="en-US"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&amp; Q</a:t>
            </a:r>
            <a:r>
              <a:rPr lang="en-US" altLang="zh-CN"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oS</a:t>
            </a:r>
            <a:endParaRPr dirty="0">
              <a:solidFill>
                <a:schemeClr val="bg2">
                  <a:lumMod val="90000"/>
                </a:schemeClr>
              </a:solidFill>
              <a:latin typeface="Courier New"/>
              <a:ea typeface="Courier New"/>
              <a:cs typeface="Courier New"/>
            </a:endParaRPr>
          </a:p>
        </p:txBody>
      </p:sp>
      <p:pic>
        <p:nvPicPr>
          <p:cNvPr id="25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57" y="4155926"/>
            <a:ext cx="790459" cy="8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261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65" y="153233"/>
            <a:ext cx="395424" cy="40046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7E06F2D-D8C9-3DA4-4E34-C69B3526808D}"/>
              </a:ext>
            </a:extLst>
          </p:cNvPr>
          <p:cNvSpPr>
            <a:spLocks noGrp="1"/>
          </p:cNvSpPr>
          <p:nvPr/>
        </p:nvSpPr>
        <p:spPr>
          <a:xfrm>
            <a:off x="1403648" y="350819"/>
            <a:ext cx="1729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None/>
            </a:pPr>
            <a:r>
              <a:rPr sz="1050">
                <a:solidFill>
                  <a:prstClr val="black"/>
                </a:solidFill>
                <a:latin typeface="Charlemagne Std"/>
                <a:ea typeface="Charlemagne Std"/>
                <a:cs typeface="Charlemagne Std"/>
              </a:rPr>
              <a:t> BIT Dream Chaser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292859-8F3E-9CD6-1815-165CECBA1CCB}"/>
              </a:ext>
            </a:extLst>
          </p:cNvPr>
          <p:cNvSpPr>
            <a:spLocks noGrp="1"/>
          </p:cNvSpPr>
          <p:nvPr/>
        </p:nvSpPr>
        <p:spPr>
          <a:xfrm>
            <a:off x="796648" y="153232"/>
            <a:ext cx="2767240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EFEDCB-7BB4-117F-27DC-C535FCE6A36D}"/>
              </a:ext>
            </a:extLst>
          </p:cNvPr>
          <p:cNvSpPr>
            <a:spLocks noGrp="1"/>
          </p:cNvSpPr>
          <p:nvPr/>
        </p:nvSpPr>
        <p:spPr>
          <a:xfrm>
            <a:off x="8460432" y="167196"/>
            <a:ext cx="683568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E3F00F-EC0F-F6FA-F695-1FAA9383A0E8}"/>
              </a:ext>
            </a:extLst>
          </p:cNvPr>
          <p:cNvSpPr>
            <a:spLocks noGrp="1"/>
          </p:cNvSpPr>
          <p:nvPr/>
        </p:nvSpPr>
        <p:spPr>
          <a:xfrm flipV="1">
            <a:off x="6840015" y="4939227"/>
            <a:ext cx="2303986" cy="204273"/>
          </a:xfrm>
          <a:prstGeom prst="rect">
            <a:avLst/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DC43EF-7288-3D6D-2169-D2B946B2A102}"/>
              </a:ext>
            </a:extLst>
          </p:cNvPr>
          <p:cNvSpPr>
            <a:spLocks noGrp="1"/>
          </p:cNvSpPr>
          <p:nvPr/>
        </p:nvSpPr>
        <p:spPr>
          <a:xfrm>
            <a:off x="1" y="4939309"/>
            <a:ext cx="6840014" cy="204192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1" name="标题 20">
            <a:extLst>
              <a:ext uri="{FF2B5EF4-FFF2-40B4-BE49-F238E27FC236}">
                <a16:creationId xmlns:a16="http://schemas.microsoft.com/office/drawing/2014/main" id="{F0A5FC05-514E-B29E-DCB7-8EBC41822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1425" y="180975"/>
            <a:ext cx="4610100" cy="552450"/>
          </a:xfr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>
                <a:solidFill>
                  <a:srgbClr val="C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C00000"/>
                </a:solidFill>
                <a:latin typeface="宋体"/>
                <a:ea typeface="宋体"/>
                <a:cs typeface="宋体"/>
              </a:rPr>
              <a:t>Topic 是节点间的数据接口</a:t>
            </a:r>
          </a:p>
        </p:txBody>
      </p:sp>
      <p:sp>
        <p:nvSpPr>
          <p:cNvPr id="26" name="slide-number">
            <a:extLst>
              <a:ext uri="{FF2B5EF4-FFF2-40B4-BE49-F238E27FC236}">
                <a16:creationId xmlns:a16="http://schemas.microsoft.com/office/drawing/2014/main" id="{CC8C3C19-5C60-4C98-8B18-1887E7C937C7}"/>
              </a:ext>
            </a:extLst>
          </p:cNvPr>
          <p:cNvSpPr>
            <a:spLocks noGrp="1"/>
          </p:cNvSpPr>
          <p:nvPr/>
        </p:nvSpPr>
        <p:spPr>
          <a:xfrm>
            <a:off x="8562975" y="4962525"/>
            <a:ext cx="36195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00" name="revision-20">
            <a:extLst>
              <a:ext uri="{FF2B5EF4-FFF2-40B4-BE49-F238E27FC236}">
                <a16:creationId xmlns:a16="http://schemas.microsoft.com/office/drawing/2014/main" id="{AB318674-D4DB-415C-9F4C-2FEDEC21BA35}"/>
              </a:ext>
            </a:extLst>
          </p:cNvPr>
          <p:cNvSpPr>
            <a:spLocks noGrp="1"/>
          </p:cNvSpPr>
          <p:nvPr/>
        </p:nvSpPr>
        <p:spPr>
          <a:xfrm>
            <a:off x="476250" y="981075"/>
            <a:ext cx="8191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读取节点发布图像，显示节点订阅同一个话题。</a:t>
            </a:r>
          </a:p>
        </p:txBody>
      </p:sp>
      <p:graphicFrame>
        <p:nvGraphicFramePr>
          <p:cNvPr id="101" name="表格 100"/>
          <p:cNvGraphicFramePr/>
          <p:nvPr/>
        </p:nvGraphicFramePr>
        <p:xfrm>
          <a:off x="476250" y="1581150"/>
          <a:ext cx="8191500" cy="2124076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101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接口内容</a:t>
                      </a:r>
                    </a:p>
                  </a:txBody>
                  <a:tcPr marL="95250" marR="95250" marT="57150" marB="57150"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本例约定</a:t>
                      </a:r>
                    </a:p>
                  </a:txBody>
                  <a:tcPr marL="95250" marR="95250" marT="57150" marB="57150"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019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话题名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/image_raw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019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消息类型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sensor_msgs/msg/Image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019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图像编码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bgr8，8 位 BGR 彩色图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2" name="revision-21">
            <a:extLst>
              <a:ext uri="{FF2B5EF4-FFF2-40B4-BE49-F238E27FC236}">
                <a16:creationId xmlns:a16="http://schemas.microsoft.com/office/drawing/2014/main" id="{02252E53-D8B2-446C-BE3C-A6F0C8017855}"/>
              </a:ext>
            </a:extLst>
          </p:cNvPr>
          <p:cNvSpPr>
            <a:spLocks noGrp="1"/>
          </p:cNvSpPr>
          <p:nvPr/>
        </p:nvSpPr>
        <p:spPr>
          <a:xfrm>
            <a:off x="476250" y="3933825"/>
            <a:ext cx="819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Image 还包含时间戳、宽高、每行字节数和像素数据。</a:t>
            </a:r>
          </a:p>
        </p:txBody>
      </p:sp>
    </p:spTree>
    <p:extLst>
      <p:ext uri="{BB962C8B-B14F-4D97-AF65-F5344CB8AC3E}">
        <p14:creationId xmlns:p14="http://schemas.microsoft.com/office/powerpoint/2010/main" val="1284639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65" y="153233"/>
            <a:ext cx="395424" cy="40046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7E06F2D-D8C9-3DA4-4E34-C69B3526808D}"/>
              </a:ext>
            </a:extLst>
          </p:cNvPr>
          <p:cNvSpPr>
            <a:spLocks noGrp="1"/>
          </p:cNvSpPr>
          <p:nvPr/>
        </p:nvSpPr>
        <p:spPr>
          <a:xfrm>
            <a:off x="1403648" y="350819"/>
            <a:ext cx="1729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None/>
            </a:pPr>
            <a:r>
              <a:rPr sz="1050">
                <a:solidFill>
                  <a:prstClr val="black"/>
                </a:solidFill>
                <a:latin typeface="Charlemagne Std"/>
                <a:ea typeface="Charlemagne Std"/>
                <a:cs typeface="Charlemagne Std"/>
              </a:rPr>
              <a:t> BIT Dream Chaser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292859-8F3E-9CD6-1815-165CECBA1CCB}"/>
              </a:ext>
            </a:extLst>
          </p:cNvPr>
          <p:cNvSpPr>
            <a:spLocks noGrp="1"/>
          </p:cNvSpPr>
          <p:nvPr/>
        </p:nvSpPr>
        <p:spPr>
          <a:xfrm>
            <a:off x="796648" y="153232"/>
            <a:ext cx="2767240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EFEDCB-7BB4-117F-27DC-C535FCE6A36D}"/>
              </a:ext>
            </a:extLst>
          </p:cNvPr>
          <p:cNvSpPr>
            <a:spLocks noGrp="1"/>
          </p:cNvSpPr>
          <p:nvPr/>
        </p:nvSpPr>
        <p:spPr>
          <a:xfrm>
            <a:off x="8460432" y="167196"/>
            <a:ext cx="683568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E3F00F-EC0F-F6FA-F695-1FAA9383A0E8}"/>
              </a:ext>
            </a:extLst>
          </p:cNvPr>
          <p:cNvSpPr>
            <a:spLocks noGrp="1"/>
          </p:cNvSpPr>
          <p:nvPr/>
        </p:nvSpPr>
        <p:spPr>
          <a:xfrm flipV="1">
            <a:off x="6840015" y="4939227"/>
            <a:ext cx="2303986" cy="204273"/>
          </a:xfrm>
          <a:prstGeom prst="rect">
            <a:avLst/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DC43EF-7288-3D6D-2169-D2B946B2A102}"/>
              </a:ext>
            </a:extLst>
          </p:cNvPr>
          <p:cNvSpPr>
            <a:spLocks noGrp="1"/>
          </p:cNvSpPr>
          <p:nvPr/>
        </p:nvSpPr>
        <p:spPr>
          <a:xfrm>
            <a:off x="1" y="4939309"/>
            <a:ext cx="6840014" cy="204192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1" name="标题 20">
            <a:extLst>
              <a:ext uri="{FF2B5EF4-FFF2-40B4-BE49-F238E27FC236}">
                <a16:creationId xmlns:a16="http://schemas.microsoft.com/office/drawing/2014/main" id="{F0A5FC05-514E-B29E-DCB7-8EBC41822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1425" y="180975"/>
            <a:ext cx="4610100" cy="552450"/>
          </a:xfr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>
                <a:solidFill>
                  <a:srgbClr val="C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C00000"/>
                </a:solidFill>
                <a:latin typeface="宋体"/>
                <a:ea typeface="宋体"/>
                <a:cs typeface="宋体"/>
              </a:rPr>
              <a:t>cv_bridge 转换图像和消息</a:t>
            </a:r>
          </a:p>
        </p:txBody>
      </p:sp>
      <p:sp>
        <p:nvSpPr>
          <p:cNvPr id="26" name="slide-number">
            <a:extLst>
              <a:ext uri="{FF2B5EF4-FFF2-40B4-BE49-F238E27FC236}">
                <a16:creationId xmlns:a16="http://schemas.microsoft.com/office/drawing/2014/main" id="{CC8C3C19-5C60-4C98-8B18-1887E7C937C7}"/>
              </a:ext>
            </a:extLst>
          </p:cNvPr>
          <p:cNvSpPr>
            <a:spLocks noGrp="1"/>
          </p:cNvSpPr>
          <p:nvPr/>
        </p:nvSpPr>
        <p:spPr>
          <a:xfrm>
            <a:off x="8562975" y="4962525"/>
            <a:ext cx="36195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100" name="revision-22">
            <a:extLst>
              <a:ext uri="{FF2B5EF4-FFF2-40B4-BE49-F238E27FC236}">
                <a16:creationId xmlns:a16="http://schemas.microsoft.com/office/drawing/2014/main" id="{4BA30C0E-B95C-4F95-96CE-414C7AB3F914}"/>
              </a:ext>
            </a:extLst>
          </p:cNvPr>
          <p:cNvSpPr>
            <a:spLocks noGrp="1"/>
          </p:cNvSpPr>
          <p:nvPr/>
        </p:nvSpPr>
        <p:spPr>
          <a:xfrm>
            <a:off x="476250" y="990600"/>
            <a:ext cx="819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读取节点：Mat 转为 Image，再发布</a:t>
            </a:r>
          </a:p>
        </p:txBody>
      </p:sp>
      <p:sp>
        <p:nvSpPr>
          <p:cNvPr id="101" name="revision-23">
            <a:extLst>
              <a:ext uri="{FF2B5EF4-FFF2-40B4-BE49-F238E27FC236}">
                <a16:creationId xmlns:a16="http://schemas.microsoft.com/office/drawing/2014/main" id="{E0E2D573-1710-4DF7-AF54-EB3B1F29121A}"/>
              </a:ext>
            </a:extLst>
          </p:cNvPr>
          <p:cNvSpPr>
            <a:spLocks noGrp="1"/>
          </p:cNvSpPr>
          <p:nvPr/>
        </p:nvSpPr>
        <p:spPr>
          <a:xfrm>
            <a:off x="476250" y="1438275"/>
            <a:ext cx="8191500" cy="1066800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  <p:txBody>
          <a:bodyPr wrap="square" lIns="123825" tIns="104775" rIns="123825" bIns="104775" anchor="t">
            <a:noAutofit/>
          </a:bodyPr>
          <a:lstStyle/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auto message = cv_bridge::CvImage(</a:t>
            </a: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header, "bgr8", frame).toImageMsg();</a:t>
            </a: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image_pub_-&gt;publish(*message);</a:t>
            </a:r>
          </a:p>
        </p:txBody>
      </p:sp>
      <p:sp>
        <p:nvSpPr>
          <p:cNvPr id="102" name="revision-24">
            <a:extLst>
              <a:ext uri="{FF2B5EF4-FFF2-40B4-BE49-F238E27FC236}">
                <a16:creationId xmlns:a16="http://schemas.microsoft.com/office/drawing/2014/main" id="{9E052321-6EDB-4B0F-AB43-C67E01CB3971}"/>
              </a:ext>
            </a:extLst>
          </p:cNvPr>
          <p:cNvSpPr>
            <a:spLocks noGrp="1"/>
          </p:cNvSpPr>
          <p:nvPr/>
        </p:nvSpPr>
        <p:spPr>
          <a:xfrm>
            <a:off x="476250" y="2705100"/>
            <a:ext cx="819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显示节点：收到 Image，在回调中显示</a:t>
            </a:r>
          </a:p>
        </p:txBody>
      </p:sp>
      <p:sp>
        <p:nvSpPr>
          <p:cNvPr id="103" name="revision-25">
            <a:extLst>
              <a:ext uri="{FF2B5EF4-FFF2-40B4-BE49-F238E27FC236}">
                <a16:creationId xmlns:a16="http://schemas.microsoft.com/office/drawing/2014/main" id="{01653E38-379C-438B-A2DD-E520A6C7E030}"/>
              </a:ext>
            </a:extLst>
          </p:cNvPr>
          <p:cNvSpPr>
            <a:spLocks noGrp="1"/>
          </p:cNvSpPr>
          <p:nvPr/>
        </p:nvSpPr>
        <p:spPr>
          <a:xfrm>
            <a:off x="476250" y="3152775"/>
            <a:ext cx="8191500" cy="838200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  <p:txBody>
          <a:bodyPr wrap="square" lIns="123825" tIns="104775" rIns="123825" bIns="104775" anchor="t">
            <a:noAutofit/>
          </a:bodyPr>
          <a:lstStyle/>
          <a:p>
            <a:pPr>
              <a:def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const auto image = cv_bridge::toCvShare(message, "bgr8");</a:t>
            </a:r>
          </a:p>
          <a:p>
            <a:pPr>
              <a:def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cv::imshow("ROS 2 video", image-&gt;image);</a:t>
            </a:r>
          </a:p>
        </p:txBody>
      </p:sp>
      <p:sp>
        <p:nvSpPr>
          <p:cNvPr id="104" name="revision-26">
            <a:extLst>
              <a:ext uri="{FF2B5EF4-FFF2-40B4-BE49-F238E27FC236}">
                <a16:creationId xmlns:a16="http://schemas.microsoft.com/office/drawing/2014/main" id="{FCF1248B-6E99-49F5-8816-B555D7161FE7}"/>
              </a:ext>
            </a:extLst>
          </p:cNvPr>
          <p:cNvSpPr>
            <a:spLocks noGrp="1"/>
          </p:cNvSpPr>
          <p:nvPr/>
        </p:nvSpPr>
        <p:spPr>
          <a:xfrm>
            <a:off x="476250" y="4267200"/>
            <a:ext cx="8191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38" b="0">
                <a:solidFill>
                  <a:srgbClr val="646464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646464"/>
                </a:solidFill>
                <a:latin typeface="微软雅黑"/>
                <a:ea typeface="微软雅黑"/>
                <a:cs typeface="微软雅黑"/>
              </a:rPr>
              <a:t>frame 来自 capture_.read(frame)。窗口事件由另一个定时器中的 waitKey(1) 处理。</a:t>
            </a:r>
          </a:p>
        </p:txBody>
      </p:sp>
    </p:spTree>
    <p:extLst>
      <p:ext uri="{BB962C8B-B14F-4D97-AF65-F5344CB8AC3E}">
        <p14:creationId xmlns:p14="http://schemas.microsoft.com/office/powerpoint/2010/main" val="1519666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65" y="153233"/>
            <a:ext cx="395424" cy="40046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7E06F2D-D8C9-3DA4-4E34-C69B3526808D}"/>
              </a:ext>
            </a:extLst>
          </p:cNvPr>
          <p:cNvSpPr>
            <a:spLocks noGrp="1"/>
          </p:cNvSpPr>
          <p:nvPr/>
        </p:nvSpPr>
        <p:spPr>
          <a:xfrm>
            <a:off x="1403648" y="350819"/>
            <a:ext cx="1729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None/>
            </a:pPr>
            <a:r>
              <a:rPr sz="1050">
                <a:solidFill>
                  <a:prstClr val="black"/>
                </a:solidFill>
                <a:latin typeface="Charlemagne Std"/>
                <a:ea typeface="Charlemagne Std"/>
                <a:cs typeface="Charlemagne Std"/>
              </a:rPr>
              <a:t> BIT Dream Chaser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292859-8F3E-9CD6-1815-165CECBA1CCB}"/>
              </a:ext>
            </a:extLst>
          </p:cNvPr>
          <p:cNvSpPr>
            <a:spLocks noGrp="1"/>
          </p:cNvSpPr>
          <p:nvPr/>
        </p:nvSpPr>
        <p:spPr>
          <a:xfrm>
            <a:off x="796648" y="153232"/>
            <a:ext cx="2767240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EFEDCB-7BB4-117F-27DC-C535FCE6A36D}"/>
              </a:ext>
            </a:extLst>
          </p:cNvPr>
          <p:cNvSpPr>
            <a:spLocks noGrp="1"/>
          </p:cNvSpPr>
          <p:nvPr/>
        </p:nvSpPr>
        <p:spPr>
          <a:xfrm>
            <a:off x="8460432" y="167196"/>
            <a:ext cx="683568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E3F00F-EC0F-F6FA-F695-1FAA9383A0E8}"/>
              </a:ext>
            </a:extLst>
          </p:cNvPr>
          <p:cNvSpPr>
            <a:spLocks noGrp="1"/>
          </p:cNvSpPr>
          <p:nvPr/>
        </p:nvSpPr>
        <p:spPr>
          <a:xfrm flipV="1">
            <a:off x="6840015" y="4939227"/>
            <a:ext cx="2303986" cy="204273"/>
          </a:xfrm>
          <a:prstGeom prst="rect">
            <a:avLst/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DC43EF-7288-3D6D-2169-D2B946B2A102}"/>
              </a:ext>
            </a:extLst>
          </p:cNvPr>
          <p:cNvSpPr>
            <a:spLocks noGrp="1"/>
          </p:cNvSpPr>
          <p:nvPr/>
        </p:nvSpPr>
        <p:spPr>
          <a:xfrm>
            <a:off x="1" y="4939309"/>
            <a:ext cx="6840014" cy="204192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1" name="标题 20">
            <a:extLst>
              <a:ext uri="{FF2B5EF4-FFF2-40B4-BE49-F238E27FC236}">
                <a16:creationId xmlns:a16="http://schemas.microsoft.com/office/drawing/2014/main" id="{F0A5FC05-514E-B29E-DCB7-8EBC41822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1425" y="180975"/>
            <a:ext cx="4610100" cy="552450"/>
          </a:xfr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>
                <a:solidFill>
                  <a:srgbClr val="C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C00000"/>
                </a:solidFill>
                <a:latin typeface="宋体"/>
                <a:ea typeface="宋体"/>
                <a:cs typeface="宋体"/>
              </a:rPr>
              <a:t>QoS 设置消息的交付方式</a:t>
            </a:r>
          </a:p>
        </p:txBody>
      </p:sp>
      <p:sp>
        <p:nvSpPr>
          <p:cNvPr id="26" name="slide-number">
            <a:extLst>
              <a:ext uri="{FF2B5EF4-FFF2-40B4-BE49-F238E27FC236}">
                <a16:creationId xmlns:a16="http://schemas.microsoft.com/office/drawing/2014/main" id="{CC8C3C19-5C60-4C98-8B18-1887E7C937C7}"/>
              </a:ext>
            </a:extLst>
          </p:cNvPr>
          <p:cNvSpPr>
            <a:spLocks noGrp="1"/>
          </p:cNvSpPr>
          <p:nvPr/>
        </p:nvSpPr>
        <p:spPr>
          <a:xfrm>
            <a:off x="8562975" y="4962525"/>
            <a:ext cx="36195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100" name="revision-27">
            <a:extLst>
              <a:ext uri="{FF2B5EF4-FFF2-40B4-BE49-F238E27FC236}">
                <a16:creationId xmlns:a16="http://schemas.microsoft.com/office/drawing/2014/main" id="{AE7162C9-30BC-47A2-93C9-E136517FC669}"/>
              </a:ext>
            </a:extLst>
          </p:cNvPr>
          <p:cNvSpPr>
            <a:spLocks noGrp="1"/>
          </p:cNvSpPr>
          <p:nvPr/>
        </p:nvSpPr>
        <p:spPr>
          <a:xfrm>
            <a:off x="476250" y="981075"/>
            <a:ext cx="8191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缓存数量、可靠性和历史消息，都由 QoS 配置。</a:t>
            </a:r>
          </a:p>
        </p:txBody>
      </p:sp>
      <p:graphicFrame>
        <p:nvGraphicFramePr>
          <p:cNvPr id="101" name="表格 100"/>
          <p:cNvGraphicFramePr/>
          <p:nvPr/>
        </p:nvGraphicFramePr>
        <p:xfrm>
          <a:off x="476250" y="1571625"/>
          <a:ext cx="8191500" cy="2190752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设置</a:t>
                      </a:r>
                    </a:p>
                  </a:txBody>
                  <a:tcPr marL="95250" marR="95250" marT="57150" marB="57150"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 marL="95250" marR="95250" marT="57150" marB="57150"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本例</a:t>
                      </a:r>
                    </a:p>
                  </a:txBody>
                  <a:tcPr marL="95250" marR="95250" marT="57150" marB="57150"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History / Depth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缓存哪些消息、最多几条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Keep Last，1 条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Reliability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是否采用可靠交付机制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Best Effort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Durability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是否为后加入者保留消息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Volatile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2" name="revision-28">
            <a:extLst>
              <a:ext uri="{FF2B5EF4-FFF2-40B4-BE49-F238E27FC236}">
                <a16:creationId xmlns:a16="http://schemas.microsoft.com/office/drawing/2014/main" id="{B980DD51-3D10-4976-834B-C7A02E4AA8B9}"/>
              </a:ext>
            </a:extLst>
          </p:cNvPr>
          <p:cNvSpPr>
            <a:spLocks noGrp="1"/>
          </p:cNvSpPr>
          <p:nvPr/>
        </p:nvSpPr>
        <p:spPr>
          <a:xfrm>
            <a:off x="476250" y="3914775"/>
            <a:ext cx="8191500" cy="447675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  <p:txBody>
          <a:bodyPr wrap="square" lIns="123825" tIns="104775" rIns="123825" bIns="104775" anchor="t">
            <a:noAutofit/>
          </a:bodyPr>
          <a:lstStyle/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rclcpp::SensorDataQoS().keep_last(1)</a:t>
            </a:r>
          </a:p>
        </p:txBody>
      </p:sp>
    </p:spTree>
    <p:extLst>
      <p:ext uri="{BB962C8B-B14F-4D97-AF65-F5344CB8AC3E}">
        <p14:creationId xmlns:p14="http://schemas.microsoft.com/office/powerpoint/2010/main" val="1485032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65" y="153233"/>
            <a:ext cx="395424" cy="40046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7E06F2D-D8C9-3DA4-4E34-C69B3526808D}"/>
              </a:ext>
            </a:extLst>
          </p:cNvPr>
          <p:cNvSpPr>
            <a:spLocks noGrp="1"/>
          </p:cNvSpPr>
          <p:nvPr/>
        </p:nvSpPr>
        <p:spPr>
          <a:xfrm>
            <a:off x="1403648" y="350819"/>
            <a:ext cx="1729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None/>
            </a:pPr>
            <a:r>
              <a:rPr sz="1050">
                <a:solidFill>
                  <a:prstClr val="black"/>
                </a:solidFill>
                <a:latin typeface="Charlemagne Std"/>
                <a:ea typeface="Charlemagne Std"/>
                <a:cs typeface="Charlemagne Std"/>
              </a:rPr>
              <a:t> BIT Dream Chaser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292859-8F3E-9CD6-1815-165CECBA1CCB}"/>
              </a:ext>
            </a:extLst>
          </p:cNvPr>
          <p:cNvSpPr>
            <a:spLocks noGrp="1"/>
          </p:cNvSpPr>
          <p:nvPr/>
        </p:nvSpPr>
        <p:spPr>
          <a:xfrm>
            <a:off x="796648" y="153232"/>
            <a:ext cx="2767240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EFEDCB-7BB4-117F-27DC-C535FCE6A36D}"/>
              </a:ext>
            </a:extLst>
          </p:cNvPr>
          <p:cNvSpPr>
            <a:spLocks noGrp="1"/>
          </p:cNvSpPr>
          <p:nvPr/>
        </p:nvSpPr>
        <p:spPr>
          <a:xfrm>
            <a:off x="8460432" y="167196"/>
            <a:ext cx="683568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E3F00F-EC0F-F6FA-F695-1FAA9383A0E8}"/>
              </a:ext>
            </a:extLst>
          </p:cNvPr>
          <p:cNvSpPr>
            <a:spLocks noGrp="1"/>
          </p:cNvSpPr>
          <p:nvPr/>
        </p:nvSpPr>
        <p:spPr>
          <a:xfrm flipV="1">
            <a:off x="6840015" y="4939227"/>
            <a:ext cx="2303986" cy="204273"/>
          </a:xfrm>
          <a:prstGeom prst="rect">
            <a:avLst/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DC43EF-7288-3D6D-2169-D2B946B2A102}"/>
              </a:ext>
            </a:extLst>
          </p:cNvPr>
          <p:cNvSpPr>
            <a:spLocks noGrp="1"/>
          </p:cNvSpPr>
          <p:nvPr/>
        </p:nvSpPr>
        <p:spPr>
          <a:xfrm>
            <a:off x="1" y="4939309"/>
            <a:ext cx="6840014" cy="204192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1" name="标题 20">
            <a:extLst>
              <a:ext uri="{FF2B5EF4-FFF2-40B4-BE49-F238E27FC236}">
                <a16:creationId xmlns:a16="http://schemas.microsoft.com/office/drawing/2014/main" id="{F0A5FC05-514E-B29E-DCB7-8EBC41822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1425" y="180975"/>
            <a:ext cx="4610100" cy="552450"/>
          </a:xfr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>
                <a:solidFill>
                  <a:srgbClr val="C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C00000"/>
                </a:solidFill>
                <a:latin typeface="宋体"/>
                <a:ea typeface="宋体"/>
                <a:cs typeface="宋体"/>
              </a:rPr>
              <a:t>QoS 需要相互兼容</a:t>
            </a:r>
          </a:p>
        </p:txBody>
      </p:sp>
      <p:sp>
        <p:nvSpPr>
          <p:cNvPr id="26" name="slide-number">
            <a:extLst>
              <a:ext uri="{FF2B5EF4-FFF2-40B4-BE49-F238E27FC236}">
                <a16:creationId xmlns:a16="http://schemas.microsoft.com/office/drawing/2014/main" id="{CC8C3C19-5C60-4C98-8B18-1887E7C937C7}"/>
              </a:ext>
            </a:extLst>
          </p:cNvPr>
          <p:cNvSpPr>
            <a:spLocks noGrp="1"/>
          </p:cNvSpPr>
          <p:nvPr/>
        </p:nvSpPr>
        <p:spPr>
          <a:xfrm>
            <a:off x="8562975" y="4962525"/>
            <a:ext cx="36195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100" name="revision-29">
            <a:extLst>
              <a:ext uri="{FF2B5EF4-FFF2-40B4-BE49-F238E27FC236}">
                <a16:creationId xmlns:a16="http://schemas.microsoft.com/office/drawing/2014/main" id="{6B086837-ACAD-4F35-8B70-D52C68CF26A0}"/>
              </a:ext>
            </a:extLst>
          </p:cNvPr>
          <p:cNvSpPr>
            <a:spLocks noGrp="1"/>
          </p:cNvSpPr>
          <p:nvPr/>
        </p:nvSpPr>
        <p:spPr>
          <a:xfrm>
            <a:off x="476250" y="981075"/>
            <a:ext cx="8191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发布端提供的能力，需要满足订阅端的要求。</a:t>
            </a:r>
          </a:p>
        </p:txBody>
      </p:sp>
      <p:graphicFrame>
        <p:nvGraphicFramePr>
          <p:cNvPr id="101" name="表格 100"/>
          <p:cNvGraphicFramePr/>
          <p:nvPr/>
        </p:nvGraphicFramePr>
        <p:xfrm>
          <a:off x="476250" y="1571625"/>
          <a:ext cx="8191500" cy="2295525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910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发布端</a:t>
                      </a:r>
                    </a:p>
                  </a:txBody>
                  <a:tcPr marL="95250" marR="95250" marT="57150" marB="57150"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订阅端</a:t>
                      </a:r>
                    </a:p>
                  </a:txBody>
                  <a:tcPr marL="95250" marR="95250" marT="57150" marB="57150"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能否匹配</a:t>
                      </a:r>
                    </a:p>
                  </a:txBody>
                  <a:tcPr marL="95250" marR="95250" marT="57150" marB="57150"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10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Best Effort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Best Effort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可以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10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Best Effort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Reliable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不可以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10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Reliable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Best Effort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可以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10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Reliable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Reliable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可以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2" name="revision-30">
            <a:extLst>
              <a:ext uri="{FF2B5EF4-FFF2-40B4-BE49-F238E27FC236}">
                <a16:creationId xmlns:a16="http://schemas.microsoft.com/office/drawing/2014/main" id="{BCE5F0C1-C4E2-4D85-800F-E6167093F230}"/>
              </a:ext>
            </a:extLst>
          </p:cNvPr>
          <p:cNvSpPr>
            <a:spLocks noGrp="1"/>
          </p:cNvSpPr>
          <p:nvPr/>
        </p:nvSpPr>
        <p:spPr>
          <a:xfrm>
            <a:off x="476250" y="4267200"/>
            <a:ext cx="8191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38" b="0">
                <a:solidFill>
                  <a:srgbClr val="646464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646464"/>
                </a:solidFill>
                <a:latin typeface="微软雅黑"/>
                <a:ea typeface="微软雅黑"/>
                <a:cs typeface="微软雅黑"/>
              </a:rPr>
              <a:t>这里只比较 Reliability，其他影响兼容性的 QoS 设置保持一致。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13786692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65" y="153233"/>
            <a:ext cx="395424" cy="40046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7E06F2D-D8C9-3DA4-4E34-C69B3526808D}"/>
              </a:ext>
            </a:extLst>
          </p:cNvPr>
          <p:cNvSpPr>
            <a:spLocks noGrp="1"/>
          </p:cNvSpPr>
          <p:nvPr/>
        </p:nvSpPr>
        <p:spPr>
          <a:xfrm>
            <a:off x="1403648" y="350819"/>
            <a:ext cx="1729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None/>
            </a:pPr>
            <a:r>
              <a:rPr sz="1050">
                <a:solidFill>
                  <a:prstClr val="black"/>
                </a:solidFill>
                <a:latin typeface="Charlemagne Std"/>
                <a:ea typeface="Charlemagne Std"/>
                <a:cs typeface="Charlemagne Std"/>
              </a:rPr>
              <a:t> BIT Dream Chaser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292859-8F3E-9CD6-1815-165CECBA1CCB}"/>
              </a:ext>
            </a:extLst>
          </p:cNvPr>
          <p:cNvSpPr>
            <a:spLocks noGrp="1"/>
          </p:cNvSpPr>
          <p:nvPr/>
        </p:nvSpPr>
        <p:spPr>
          <a:xfrm>
            <a:off x="796648" y="153232"/>
            <a:ext cx="2767240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EFEDCB-7BB4-117F-27DC-C535FCE6A36D}"/>
              </a:ext>
            </a:extLst>
          </p:cNvPr>
          <p:cNvSpPr>
            <a:spLocks noGrp="1"/>
          </p:cNvSpPr>
          <p:nvPr/>
        </p:nvSpPr>
        <p:spPr>
          <a:xfrm>
            <a:off x="8460432" y="167196"/>
            <a:ext cx="683568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E3F00F-EC0F-F6FA-F695-1FAA9383A0E8}"/>
              </a:ext>
            </a:extLst>
          </p:cNvPr>
          <p:cNvSpPr>
            <a:spLocks noGrp="1"/>
          </p:cNvSpPr>
          <p:nvPr/>
        </p:nvSpPr>
        <p:spPr>
          <a:xfrm flipV="1">
            <a:off x="6840015" y="4939227"/>
            <a:ext cx="2303986" cy="204273"/>
          </a:xfrm>
          <a:prstGeom prst="rect">
            <a:avLst/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DC43EF-7288-3D6D-2169-D2B946B2A102}"/>
              </a:ext>
            </a:extLst>
          </p:cNvPr>
          <p:cNvSpPr>
            <a:spLocks noGrp="1"/>
          </p:cNvSpPr>
          <p:nvPr/>
        </p:nvSpPr>
        <p:spPr>
          <a:xfrm>
            <a:off x="1" y="4939309"/>
            <a:ext cx="6840014" cy="204192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1" name="标题 20">
            <a:extLst>
              <a:ext uri="{FF2B5EF4-FFF2-40B4-BE49-F238E27FC236}">
                <a16:creationId xmlns:a16="http://schemas.microsoft.com/office/drawing/2014/main" id="{F0A5FC05-514E-B29E-DCB7-8EBC41822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1425" y="180975"/>
            <a:ext cx="4610100" cy="552450"/>
          </a:xfr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>
                <a:solidFill>
                  <a:srgbClr val="C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C00000"/>
                </a:solidFill>
                <a:latin typeface="宋体"/>
                <a:ea typeface="宋体"/>
                <a:cs typeface="宋体"/>
              </a:rPr>
              <a:t>Topic 的常用命令</a:t>
            </a:r>
          </a:p>
        </p:txBody>
      </p:sp>
      <p:sp>
        <p:nvSpPr>
          <p:cNvPr id="26" name="slide-number">
            <a:extLst>
              <a:ext uri="{FF2B5EF4-FFF2-40B4-BE49-F238E27FC236}">
                <a16:creationId xmlns:a16="http://schemas.microsoft.com/office/drawing/2014/main" id="{CC8C3C19-5C60-4C98-8B18-1887E7C937C7}"/>
              </a:ext>
            </a:extLst>
          </p:cNvPr>
          <p:cNvSpPr>
            <a:spLocks noGrp="1"/>
          </p:cNvSpPr>
          <p:nvPr/>
        </p:nvSpPr>
        <p:spPr>
          <a:xfrm>
            <a:off x="8562975" y="4962525"/>
            <a:ext cx="36195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100" name="revision-31">
            <a:extLst>
              <a:ext uri="{FF2B5EF4-FFF2-40B4-BE49-F238E27FC236}">
                <a16:creationId xmlns:a16="http://schemas.microsoft.com/office/drawing/2014/main" id="{C3453B1E-1A3D-410F-A567-DC1AA3BA2C4F}"/>
              </a:ext>
            </a:extLst>
          </p:cNvPr>
          <p:cNvSpPr>
            <a:spLocks noGrp="1"/>
          </p:cNvSpPr>
          <p:nvPr/>
        </p:nvSpPr>
        <p:spPr>
          <a:xfrm>
            <a:off x="476250" y="1171575"/>
            <a:ext cx="8191500" cy="1781175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  <p:txBody>
          <a:bodyPr wrap="square" lIns="123825" tIns="104775" rIns="123825" bIns="104775" anchor="t">
            <a:noAutofit/>
          </a:bodyPr>
          <a:lstStyle/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ros2 topic list -t</a:t>
            </a: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ros2 topic info /image_raw --verbose</a:t>
            </a: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ros2 topic hz /image_raw</a:t>
            </a: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ros2 topic echo /image_raw --no-arr --once \</a:t>
            </a: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--qos-reliability best_effort</a:t>
            </a:r>
          </a:p>
        </p:txBody>
      </p:sp>
      <p:sp>
        <p:nvSpPr>
          <p:cNvPr id="101" name="revision-32">
            <a:extLst>
              <a:ext uri="{FF2B5EF4-FFF2-40B4-BE49-F238E27FC236}">
                <a16:creationId xmlns:a16="http://schemas.microsoft.com/office/drawing/2014/main" id="{4C44459A-4177-481B-8EAA-8333A6896BAD}"/>
              </a:ext>
            </a:extLst>
          </p:cNvPr>
          <p:cNvSpPr>
            <a:spLocks noGrp="1"/>
          </p:cNvSpPr>
          <p:nvPr/>
        </p:nvSpPr>
        <p:spPr>
          <a:xfrm>
            <a:off x="476250" y="3238500"/>
            <a:ext cx="8191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list：列出话题及类型     info：查看通信两端与 QoS</a:t>
            </a:r>
          </a:p>
        </p:txBody>
      </p:sp>
      <p:sp>
        <p:nvSpPr>
          <p:cNvPr id="102" name="revision-33">
            <a:extLst>
              <a:ext uri="{FF2B5EF4-FFF2-40B4-BE49-F238E27FC236}">
                <a16:creationId xmlns:a16="http://schemas.microsoft.com/office/drawing/2014/main" id="{E30A98C5-2CA4-4D50-B77E-6591B9E7D00C}"/>
              </a:ext>
            </a:extLst>
          </p:cNvPr>
          <p:cNvSpPr>
            <a:spLocks noGrp="1"/>
          </p:cNvSpPr>
          <p:nvPr/>
        </p:nvSpPr>
        <p:spPr>
          <a:xfrm>
            <a:off x="476250" y="3733800"/>
            <a:ext cx="8191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hz：查看接收频率          echo：查看消息内容</a:t>
            </a:r>
          </a:p>
        </p:txBody>
      </p:sp>
      <p:sp>
        <p:nvSpPr>
          <p:cNvPr id="103" name="revision-34">
            <a:extLst>
              <a:ext uri="{FF2B5EF4-FFF2-40B4-BE49-F238E27FC236}">
                <a16:creationId xmlns:a16="http://schemas.microsoft.com/office/drawing/2014/main" id="{D99E1ED3-0B13-4DA0-8830-87FAB8CCE713}"/>
              </a:ext>
            </a:extLst>
          </p:cNvPr>
          <p:cNvSpPr>
            <a:spLocks noGrp="1"/>
          </p:cNvSpPr>
          <p:nvPr/>
        </p:nvSpPr>
        <p:spPr>
          <a:xfrm>
            <a:off x="476250" y="4267200"/>
            <a:ext cx="8191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38" b="0">
                <a:solidFill>
                  <a:srgbClr val="646464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646464"/>
                </a:solidFill>
                <a:latin typeface="微软雅黑"/>
                <a:ea typeface="微软雅黑"/>
                <a:cs typeface="微软雅黑"/>
              </a:rPr>
              <a:t>每个终端先 source scripts/env.sh。--no-arr 隐藏像素数组，Ctrl+C 结束查看。</a:t>
            </a:r>
          </a:p>
        </p:txBody>
      </p:sp>
    </p:spTree>
    <p:extLst>
      <p:ext uri="{BB962C8B-B14F-4D97-AF65-F5344CB8AC3E}">
        <p14:creationId xmlns:p14="http://schemas.microsoft.com/office/powerpoint/2010/main" val="307498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65" y="153233"/>
            <a:ext cx="395424" cy="40046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7E06F2D-D8C9-3DA4-4E34-C69B3526808D}"/>
              </a:ext>
            </a:extLst>
          </p:cNvPr>
          <p:cNvSpPr>
            <a:spLocks noGrp="1"/>
          </p:cNvSpPr>
          <p:nvPr/>
        </p:nvSpPr>
        <p:spPr>
          <a:xfrm>
            <a:off x="1403648" y="350819"/>
            <a:ext cx="1729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None/>
            </a:pPr>
            <a:r>
              <a:rPr sz="1050">
                <a:solidFill>
                  <a:prstClr val="black"/>
                </a:solidFill>
                <a:latin typeface="Charlemagne Std"/>
                <a:ea typeface="Charlemagne Std"/>
                <a:cs typeface="Charlemagne Std"/>
              </a:rPr>
              <a:t> BIT Dream Chaser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292859-8F3E-9CD6-1815-165CECBA1CCB}"/>
              </a:ext>
            </a:extLst>
          </p:cNvPr>
          <p:cNvSpPr>
            <a:spLocks noGrp="1"/>
          </p:cNvSpPr>
          <p:nvPr/>
        </p:nvSpPr>
        <p:spPr>
          <a:xfrm>
            <a:off x="796648" y="153232"/>
            <a:ext cx="2767240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EFEDCB-7BB4-117F-27DC-C535FCE6A36D}"/>
              </a:ext>
            </a:extLst>
          </p:cNvPr>
          <p:cNvSpPr>
            <a:spLocks noGrp="1"/>
          </p:cNvSpPr>
          <p:nvPr/>
        </p:nvSpPr>
        <p:spPr>
          <a:xfrm>
            <a:off x="8460432" y="167196"/>
            <a:ext cx="683568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E3F00F-EC0F-F6FA-F695-1FAA9383A0E8}"/>
              </a:ext>
            </a:extLst>
          </p:cNvPr>
          <p:cNvSpPr>
            <a:spLocks noGrp="1"/>
          </p:cNvSpPr>
          <p:nvPr/>
        </p:nvSpPr>
        <p:spPr>
          <a:xfrm flipV="1">
            <a:off x="6840015" y="4939227"/>
            <a:ext cx="2303986" cy="204273"/>
          </a:xfrm>
          <a:prstGeom prst="rect">
            <a:avLst/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DC43EF-7288-3D6D-2169-D2B946B2A102}"/>
              </a:ext>
            </a:extLst>
          </p:cNvPr>
          <p:cNvSpPr>
            <a:spLocks noGrp="1"/>
          </p:cNvSpPr>
          <p:nvPr/>
        </p:nvSpPr>
        <p:spPr>
          <a:xfrm>
            <a:off x="1" y="4939309"/>
            <a:ext cx="6840014" cy="204192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1" name="标题 20">
            <a:extLst>
              <a:ext uri="{FF2B5EF4-FFF2-40B4-BE49-F238E27FC236}">
                <a16:creationId xmlns:a16="http://schemas.microsoft.com/office/drawing/2014/main" id="{F0A5FC05-514E-B29E-DCB7-8EBC41822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1425" y="180975"/>
            <a:ext cx="4610100" cy="552450"/>
          </a:xfr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>
                <a:solidFill>
                  <a:srgbClr val="C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C00000"/>
                </a:solidFill>
                <a:latin typeface="宋体"/>
                <a:ea typeface="宋体"/>
                <a:cs typeface="宋体"/>
              </a:rPr>
              <a:t>QoS 不匹配时的现象</a:t>
            </a:r>
          </a:p>
        </p:txBody>
      </p:sp>
      <p:sp>
        <p:nvSpPr>
          <p:cNvPr id="26" name="slide-number">
            <a:extLst>
              <a:ext uri="{FF2B5EF4-FFF2-40B4-BE49-F238E27FC236}">
                <a16:creationId xmlns:a16="http://schemas.microsoft.com/office/drawing/2014/main" id="{CC8C3C19-5C60-4C98-8B18-1887E7C937C7}"/>
              </a:ext>
            </a:extLst>
          </p:cNvPr>
          <p:cNvSpPr>
            <a:spLocks noGrp="1"/>
          </p:cNvSpPr>
          <p:nvPr/>
        </p:nvSpPr>
        <p:spPr>
          <a:xfrm>
            <a:off x="8562975" y="4962525"/>
            <a:ext cx="36195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100" name="revision-35">
            <a:extLst>
              <a:ext uri="{FF2B5EF4-FFF2-40B4-BE49-F238E27FC236}">
                <a16:creationId xmlns:a16="http://schemas.microsoft.com/office/drawing/2014/main" id="{46011023-6BC3-4BBA-8BD8-24E81DCEC8D8}"/>
              </a:ext>
            </a:extLst>
          </p:cNvPr>
          <p:cNvSpPr>
            <a:spLocks noGrp="1"/>
          </p:cNvSpPr>
          <p:nvPr/>
        </p:nvSpPr>
        <p:spPr>
          <a:xfrm>
            <a:off x="476250" y="981075"/>
            <a:ext cx="8191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只修改显示节点的 QoS，观察还能不能收到图像。</a:t>
            </a:r>
          </a:p>
        </p:txBody>
      </p:sp>
      <p:sp>
        <p:nvSpPr>
          <p:cNvPr id="101" name="revision-36">
            <a:extLst>
              <a:ext uri="{FF2B5EF4-FFF2-40B4-BE49-F238E27FC236}">
                <a16:creationId xmlns:a16="http://schemas.microsoft.com/office/drawing/2014/main" id="{D2998907-BDD9-4641-B0F4-424181B2D584}"/>
              </a:ext>
            </a:extLst>
          </p:cNvPr>
          <p:cNvSpPr>
            <a:spLocks noGrp="1"/>
          </p:cNvSpPr>
          <p:nvPr/>
        </p:nvSpPr>
        <p:spPr>
          <a:xfrm>
            <a:off x="476250" y="1562100"/>
            <a:ext cx="8191500" cy="809625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  <p:txBody>
          <a:bodyPr wrap="square" lIns="123825" tIns="104775" rIns="123825" bIns="104775" anchor="t">
            <a:noAutofit/>
          </a:bodyPr>
          <a:lstStyle/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ros2 run video_viewer videor_viewer --ros-args \</a:t>
            </a:r>
          </a:p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-p use_reliable:=true</a:t>
            </a:r>
          </a:p>
        </p:txBody>
      </p:sp>
      <p:sp>
        <p:nvSpPr>
          <p:cNvPr id="102" name="revision-37">
            <a:extLst>
              <a:ext uri="{FF2B5EF4-FFF2-40B4-BE49-F238E27FC236}">
                <a16:creationId xmlns:a16="http://schemas.microsoft.com/office/drawing/2014/main" id="{45DEC3BB-FE47-4FAA-A384-13D74AE1FB5F}"/>
              </a:ext>
            </a:extLst>
          </p:cNvPr>
          <p:cNvSpPr>
            <a:spLocks noGrp="1"/>
          </p:cNvSpPr>
          <p:nvPr/>
        </p:nvSpPr>
        <p:spPr>
          <a:xfrm>
            <a:off x="476250" y="2619375"/>
            <a:ext cx="8191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话题仍然存在，但显示节点没有画面，也没有收帧日志。</a:t>
            </a:r>
          </a:p>
        </p:txBody>
      </p:sp>
      <p:sp>
        <p:nvSpPr>
          <p:cNvPr id="103" name="revision-38">
            <a:extLst>
              <a:ext uri="{FF2B5EF4-FFF2-40B4-BE49-F238E27FC236}">
                <a16:creationId xmlns:a16="http://schemas.microsoft.com/office/drawing/2014/main" id="{F7196841-D13C-4E40-AF76-453D2D60744D}"/>
              </a:ext>
            </a:extLst>
          </p:cNvPr>
          <p:cNvSpPr>
            <a:spLocks noGrp="1"/>
          </p:cNvSpPr>
          <p:nvPr/>
        </p:nvSpPr>
        <p:spPr>
          <a:xfrm>
            <a:off x="476250" y="3133725"/>
            <a:ext cx="8191500" cy="514350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  <p:txBody>
          <a:bodyPr wrap="square" lIns="123825" tIns="104775" rIns="123825" bIns="104775" anchor="t">
            <a:noAutofit/>
          </a:bodyPr>
          <a:lstStyle/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ros2 topic info /image_raw --verbose</a:t>
            </a:r>
          </a:p>
        </p:txBody>
      </p:sp>
      <p:sp>
        <p:nvSpPr>
          <p:cNvPr id="104" name="revision-39">
            <a:extLst>
              <a:ext uri="{FF2B5EF4-FFF2-40B4-BE49-F238E27FC236}">
                <a16:creationId xmlns:a16="http://schemas.microsoft.com/office/drawing/2014/main" id="{113EB5A7-8228-4368-9321-0BBAAD493FB9}"/>
              </a:ext>
            </a:extLst>
          </p:cNvPr>
          <p:cNvSpPr>
            <a:spLocks noGrp="1"/>
          </p:cNvSpPr>
          <p:nvPr/>
        </p:nvSpPr>
        <p:spPr>
          <a:xfrm>
            <a:off x="476250" y="3905250"/>
            <a:ext cx="8191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对比两端的 Reliability，再去掉参数重新启动。</a:t>
            </a:r>
          </a:p>
        </p:txBody>
      </p:sp>
      <p:sp>
        <p:nvSpPr>
          <p:cNvPr id="105" name="revision-40">
            <a:extLst>
              <a:ext uri="{FF2B5EF4-FFF2-40B4-BE49-F238E27FC236}">
                <a16:creationId xmlns:a16="http://schemas.microsoft.com/office/drawing/2014/main" id="{C8071D67-C6EE-441E-BA92-8B7C5BCBD16D}"/>
              </a:ext>
            </a:extLst>
          </p:cNvPr>
          <p:cNvSpPr>
            <a:spLocks noGrp="1"/>
          </p:cNvSpPr>
          <p:nvPr/>
        </p:nvSpPr>
        <p:spPr>
          <a:xfrm>
            <a:off x="476250" y="4267200"/>
            <a:ext cx="8191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38" b="0">
                <a:solidFill>
                  <a:srgbClr val="646464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646464"/>
                </a:solidFill>
                <a:latin typeface="微软雅黑"/>
                <a:ea typeface="微软雅黑"/>
                <a:cs typeface="微软雅黑"/>
              </a:rPr>
              <a:t>先停止原显示节点。读取节点继续运行，不要同时启动两个显示节点。</a:t>
            </a:r>
          </a:p>
        </p:txBody>
      </p:sp>
    </p:spTree>
    <p:extLst>
      <p:ext uri="{BB962C8B-B14F-4D97-AF65-F5344CB8AC3E}">
        <p14:creationId xmlns:p14="http://schemas.microsoft.com/office/powerpoint/2010/main" val="1983191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3"/>
          <p:cNvPicPr>
            <a:picLocks noChangeAspect="1"/>
          </p:cNvPicPr>
          <p:nvPr/>
        </p:nvPicPr>
        <p:blipFill rotWithShape="1">
          <a:blip r:embed="rId3"/>
          <a:srcRect l="4578" r="11925" b="8088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6" name="等腰三角形 5">
            <a:extLst>
              <a:ext uri="{FF2B5EF4-FFF2-40B4-BE49-F238E27FC236}">
                <a16:creationId xmlns:a16="http://schemas.microsoft.com/office/drawing/2014/main" id="{1271CB4A-830F-4D32-95E7-0248603F3C32}"/>
              </a:ext>
            </a:extLst>
          </p:cNvPr>
          <p:cNvSpPr>
            <a:spLocks noGrp="1"/>
          </p:cNvSpPr>
          <p:nvPr/>
        </p:nvSpPr>
        <p:spPr>
          <a:xfrm rot="10800000" flipH="1" flipV="1">
            <a:off x="0" y="3507854"/>
            <a:ext cx="2555776" cy="1656184"/>
          </a:xfrm>
          <a:prstGeom prst="triangle">
            <a:avLst>
              <a:gd name="adj" fmla="val 50259"/>
            </a:avLst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B4B2987D-4CDF-4827-9F87-AFAF9C9B3DA3}"/>
              </a:ext>
            </a:extLst>
          </p:cNvPr>
          <p:cNvSpPr>
            <a:spLocks noGrp="1"/>
          </p:cNvSpPr>
          <p:nvPr/>
        </p:nvSpPr>
        <p:spPr>
          <a:xfrm>
            <a:off x="1675116" y="267494"/>
            <a:ext cx="7468884" cy="4896544"/>
          </a:xfrm>
          <a:prstGeom prst="triangle">
            <a:avLst>
              <a:gd name="adj" fmla="val 48962"/>
            </a:avLst>
          </a:prstGeom>
          <a:solidFill>
            <a:schemeClr val="tx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34F1BDC-9F04-4853-89EF-2A27C134AAF2}"/>
              </a:ext>
            </a:extLst>
          </p:cNvPr>
          <p:cNvSpPr>
            <a:spLocks noGrp="1"/>
          </p:cNvSpPr>
          <p:nvPr/>
        </p:nvSpPr>
        <p:spPr>
          <a:xfrm>
            <a:off x="5004048" y="1594123"/>
            <a:ext cx="727404" cy="727404"/>
          </a:xfrm>
          <a:prstGeom prst="ellipse">
            <a:avLst/>
          </a:prstGeom>
          <a:noFill/>
          <a:ln>
            <a:solidFill>
              <a:srgbClr val="D2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A68CC3-60BD-4A89-AE05-9B053A9C88C4}"/>
              </a:ext>
            </a:extLst>
          </p:cNvPr>
          <p:cNvSpPr>
            <a:spLocks noGrp="1"/>
          </p:cNvSpPr>
          <p:nvPr/>
        </p:nvSpPr>
        <p:spPr>
          <a:xfrm>
            <a:off x="5220072" y="1635646"/>
            <a:ext cx="553818" cy="7994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4000" b="0">
                <a:solidFill>
                  <a:srgbClr val="D20000"/>
                </a:solidFill>
                <a:latin typeface="Impact"/>
                <a:ea typeface="Impact"/>
                <a:cs typeface="Impact"/>
              </a:defRPr>
            </a:pPr>
            <a:r>
              <a:rPr sz="4000" b="0">
                <a:solidFill>
                  <a:srgbClr val="D20000"/>
                </a:solidFill>
                <a:latin typeface="Impact"/>
                <a:ea typeface="Impact"/>
                <a:cs typeface="Impact"/>
              </a:rPr>
              <a:t>5</a:t>
            </a:r>
            <a:endParaRPr sz="4000">
              <a:solidFill>
                <a:srgbClr val="D20000"/>
              </a:solidFill>
              <a:latin typeface="Impact"/>
              <a:ea typeface="Impact"/>
              <a:cs typeface="Impac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B8E7DDD-8590-4E79-9960-580910E39DC4}"/>
              </a:ext>
            </a:extLst>
          </p:cNvPr>
          <p:cNvSpPr>
            <a:spLocks noGrp="1"/>
          </p:cNvSpPr>
          <p:nvPr/>
        </p:nvSpPr>
        <p:spPr>
          <a:xfrm>
            <a:off x="3238500" y="2647950"/>
            <a:ext cx="4543425" cy="561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pPr algn="ctr">
              <a:buNone/>
              <a:defRPr sz="29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Launch 与动手修改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EDA5A8-CFF1-4DC1-A306-CA155186875C}"/>
              </a:ext>
            </a:extLst>
          </p:cNvPr>
          <p:cNvSpPr>
            <a:spLocks noGrp="1"/>
          </p:cNvSpPr>
          <p:nvPr/>
        </p:nvSpPr>
        <p:spPr>
          <a:xfrm>
            <a:off x="3238500" y="3267075"/>
            <a:ext cx="3319780" cy="3314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LAUNCH AND PRACTICE</a:t>
            </a:r>
            <a:endParaRPr>
              <a:solidFill>
                <a:schemeClr val="bg2">
                  <a:lumMod val="90000"/>
                </a:schemeClr>
              </a:solidFill>
              <a:latin typeface="Courier New"/>
              <a:ea typeface="Courier New"/>
              <a:cs typeface="Courier New"/>
            </a:endParaRPr>
          </a:p>
        </p:txBody>
      </p:sp>
      <p:pic>
        <p:nvPicPr>
          <p:cNvPr id="25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57" y="4155926"/>
            <a:ext cx="790459" cy="8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76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65" y="153233"/>
            <a:ext cx="395424" cy="40046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7E06F2D-D8C9-3DA4-4E34-C69B3526808D}"/>
              </a:ext>
            </a:extLst>
          </p:cNvPr>
          <p:cNvSpPr>
            <a:spLocks noGrp="1"/>
          </p:cNvSpPr>
          <p:nvPr/>
        </p:nvSpPr>
        <p:spPr>
          <a:xfrm>
            <a:off x="1403648" y="350819"/>
            <a:ext cx="1729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None/>
            </a:pPr>
            <a:r>
              <a:rPr sz="1050">
                <a:solidFill>
                  <a:prstClr val="black"/>
                </a:solidFill>
                <a:latin typeface="Charlemagne Std"/>
                <a:ea typeface="Charlemagne Std"/>
                <a:cs typeface="Charlemagne Std"/>
              </a:rPr>
              <a:t> BIT Dream Chaser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292859-8F3E-9CD6-1815-165CECBA1CCB}"/>
              </a:ext>
            </a:extLst>
          </p:cNvPr>
          <p:cNvSpPr>
            <a:spLocks noGrp="1"/>
          </p:cNvSpPr>
          <p:nvPr/>
        </p:nvSpPr>
        <p:spPr>
          <a:xfrm>
            <a:off x="796648" y="153232"/>
            <a:ext cx="2767240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EFEDCB-7BB4-117F-27DC-C535FCE6A36D}"/>
              </a:ext>
            </a:extLst>
          </p:cNvPr>
          <p:cNvSpPr>
            <a:spLocks noGrp="1"/>
          </p:cNvSpPr>
          <p:nvPr/>
        </p:nvSpPr>
        <p:spPr>
          <a:xfrm>
            <a:off x="8460432" y="167196"/>
            <a:ext cx="683568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E3F00F-EC0F-F6FA-F695-1FAA9383A0E8}"/>
              </a:ext>
            </a:extLst>
          </p:cNvPr>
          <p:cNvSpPr>
            <a:spLocks noGrp="1"/>
          </p:cNvSpPr>
          <p:nvPr/>
        </p:nvSpPr>
        <p:spPr>
          <a:xfrm flipV="1">
            <a:off x="6840015" y="4939227"/>
            <a:ext cx="2303986" cy="204273"/>
          </a:xfrm>
          <a:prstGeom prst="rect">
            <a:avLst/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DC43EF-7288-3D6D-2169-D2B946B2A102}"/>
              </a:ext>
            </a:extLst>
          </p:cNvPr>
          <p:cNvSpPr>
            <a:spLocks noGrp="1"/>
          </p:cNvSpPr>
          <p:nvPr/>
        </p:nvSpPr>
        <p:spPr>
          <a:xfrm>
            <a:off x="1" y="4939309"/>
            <a:ext cx="6840014" cy="204192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1" name="标题 20">
            <a:extLst>
              <a:ext uri="{FF2B5EF4-FFF2-40B4-BE49-F238E27FC236}">
                <a16:creationId xmlns:a16="http://schemas.microsoft.com/office/drawing/2014/main" id="{F0A5FC05-514E-B29E-DCB7-8EBC41822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1425" y="180975"/>
            <a:ext cx="4610100" cy="552450"/>
          </a:xfr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>
                <a:solidFill>
                  <a:srgbClr val="C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C00000"/>
                </a:solidFill>
                <a:latin typeface="宋体"/>
                <a:ea typeface="宋体"/>
                <a:cs typeface="宋体"/>
              </a:rPr>
              <a:t>Launch 文件组织节点启动</a:t>
            </a:r>
          </a:p>
        </p:txBody>
      </p:sp>
      <p:sp>
        <p:nvSpPr>
          <p:cNvPr id="26" name="slide-number">
            <a:extLst>
              <a:ext uri="{FF2B5EF4-FFF2-40B4-BE49-F238E27FC236}">
                <a16:creationId xmlns:a16="http://schemas.microsoft.com/office/drawing/2014/main" id="{CC8C3C19-5C60-4C98-8B18-1887E7C937C7}"/>
              </a:ext>
            </a:extLst>
          </p:cNvPr>
          <p:cNvSpPr>
            <a:spLocks noGrp="1"/>
          </p:cNvSpPr>
          <p:nvPr/>
        </p:nvSpPr>
        <p:spPr>
          <a:xfrm>
            <a:off x="8562975" y="4962525"/>
            <a:ext cx="36195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100" name="revision-41">
            <a:extLst>
              <a:ext uri="{FF2B5EF4-FFF2-40B4-BE49-F238E27FC236}">
                <a16:creationId xmlns:a16="http://schemas.microsoft.com/office/drawing/2014/main" id="{BE401471-AE6D-4284-9DB2-C80D72280776}"/>
              </a:ext>
            </a:extLst>
          </p:cNvPr>
          <p:cNvSpPr>
            <a:spLocks noGrp="1"/>
          </p:cNvSpPr>
          <p:nvPr/>
        </p:nvSpPr>
        <p:spPr>
          <a:xfrm>
            <a:off x="476250" y="1076325"/>
            <a:ext cx="8191500" cy="2705100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  <p:txBody>
          <a:bodyPr wrap="square" lIns="123825" tIns="104775" rIns="123825" bIns="104775" anchor="t">
            <a:noAutofit/>
          </a:bodyPr>
          <a:lstStyle/>
          <a:p>
            <a:pPr>
              <a:defRPr sz="142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from launch import LaunchDescription</a:t>
            </a:r>
          </a:p>
          <a:p>
            <a:pPr>
              <a:defRPr sz="142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from launch_ros.actions import Node</a:t>
            </a:r>
          </a:p>
          <a:p>
            <a:endParaRPr sz="1425" b="0">
              <a:solidFill>
                <a:srgbClr val="F3F3F3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142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def generate_launch_description():</a:t>
            </a:r>
          </a:p>
          <a:p>
            <a:pPr>
              <a:defRPr sz="142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  return LaunchDescription([</a:t>
            </a:r>
          </a:p>
          <a:p>
            <a:pPr>
              <a:defRPr sz="142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      Node(package="video_reader", executable="videor_reader",</a:t>
            </a:r>
          </a:p>
          <a:p>
            <a:pPr>
              <a:defRPr sz="142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           output="screen"),</a:t>
            </a:r>
          </a:p>
          <a:p>
            <a:pPr>
              <a:defRPr sz="142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      Node(package="video_viewer", executable="videor_viewer",</a:t>
            </a:r>
          </a:p>
          <a:p>
            <a:pPr>
              <a:defRPr sz="142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           output="screen"),</a:t>
            </a:r>
          </a:p>
          <a:p>
            <a:pPr>
              <a:defRPr sz="142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  ])</a:t>
            </a:r>
          </a:p>
        </p:txBody>
      </p:sp>
      <p:sp>
        <p:nvSpPr>
          <p:cNvPr id="101" name="revision-42">
            <a:extLst>
              <a:ext uri="{FF2B5EF4-FFF2-40B4-BE49-F238E27FC236}">
                <a16:creationId xmlns:a16="http://schemas.microsoft.com/office/drawing/2014/main" id="{EEE8055B-ECB9-4198-A43E-0CD4E1186663}"/>
              </a:ext>
            </a:extLst>
          </p:cNvPr>
          <p:cNvSpPr>
            <a:spLocks noGrp="1"/>
          </p:cNvSpPr>
          <p:nvPr/>
        </p:nvSpPr>
        <p:spPr>
          <a:xfrm>
            <a:off x="476250" y="3962400"/>
            <a:ext cx="8191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package 对应包名，executable 对应可执行程序名。</a:t>
            </a:r>
          </a:p>
        </p:txBody>
      </p:sp>
      <p:sp>
        <p:nvSpPr>
          <p:cNvPr id="102" name="revision-43">
            <a:extLst>
              <a:ext uri="{FF2B5EF4-FFF2-40B4-BE49-F238E27FC236}">
                <a16:creationId xmlns:a16="http://schemas.microsoft.com/office/drawing/2014/main" id="{174A4A58-E1C6-4D74-93C3-28F78F21245F}"/>
              </a:ext>
            </a:extLst>
          </p:cNvPr>
          <p:cNvSpPr>
            <a:spLocks noGrp="1"/>
          </p:cNvSpPr>
          <p:nvPr/>
        </p:nvSpPr>
        <p:spPr>
          <a:xfrm>
            <a:off x="476250" y="4267200"/>
            <a:ext cx="8191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38" b="0">
                <a:solidFill>
                  <a:srgbClr val="646464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646464"/>
                </a:solidFill>
                <a:latin typeface="微软雅黑"/>
                <a:ea typeface="微软雅黑"/>
                <a:cs typeface="微软雅黑"/>
              </a:rPr>
              <a:t>文件位置：video_viewer/launch/demo.launch.py。编译时安装到包目录中。</a:t>
            </a:r>
          </a:p>
        </p:txBody>
      </p:sp>
    </p:spTree>
    <p:extLst>
      <p:ext uri="{BB962C8B-B14F-4D97-AF65-F5344CB8AC3E}">
        <p14:creationId xmlns:p14="http://schemas.microsoft.com/office/powerpoint/2010/main" val="16632568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65" y="153233"/>
            <a:ext cx="395424" cy="40046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7E06F2D-D8C9-3DA4-4E34-C69B3526808D}"/>
              </a:ext>
            </a:extLst>
          </p:cNvPr>
          <p:cNvSpPr>
            <a:spLocks noGrp="1"/>
          </p:cNvSpPr>
          <p:nvPr/>
        </p:nvSpPr>
        <p:spPr>
          <a:xfrm>
            <a:off x="1403648" y="350819"/>
            <a:ext cx="1729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None/>
            </a:pPr>
            <a:r>
              <a:rPr sz="1050">
                <a:solidFill>
                  <a:prstClr val="black"/>
                </a:solidFill>
                <a:latin typeface="Charlemagne Std"/>
                <a:ea typeface="Charlemagne Std"/>
                <a:cs typeface="Charlemagne Std"/>
              </a:rPr>
              <a:t> BIT Dream Chaser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292859-8F3E-9CD6-1815-165CECBA1CCB}"/>
              </a:ext>
            </a:extLst>
          </p:cNvPr>
          <p:cNvSpPr>
            <a:spLocks noGrp="1"/>
          </p:cNvSpPr>
          <p:nvPr/>
        </p:nvSpPr>
        <p:spPr>
          <a:xfrm>
            <a:off x="796648" y="153232"/>
            <a:ext cx="2767240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EFEDCB-7BB4-117F-27DC-C535FCE6A36D}"/>
              </a:ext>
            </a:extLst>
          </p:cNvPr>
          <p:cNvSpPr>
            <a:spLocks noGrp="1"/>
          </p:cNvSpPr>
          <p:nvPr/>
        </p:nvSpPr>
        <p:spPr>
          <a:xfrm>
            <a:off x="8460432" y="167196"/>
            <a:ext cx="683568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E3F00F-EC0F-F6FA-F695-1FAA9383A0E8}"/>
              </a:ext>
            </a:extLst>
          </p:cNvPr>
          <p:cNvSpPr>
            <a:spLocks noGrp="1"/>
          </p:cNvSpPr>
          <p:nvPr/>
        </p:nvSpPr>
        <p:spPr>
          <a:xfrm flipV="1">
            <a:off x="6840015" y="4939227"/>
            <a:ext cx="2303986" cy="204273"/>
          </a:xfrm>
          <a:prstGeom prst="rect">
            <a:avLst/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DC43EF-7288-3D6D-2169-D2B946B2A102}"/>
              </a:ext>
            </a:extLst>
          </p:cNvPr>
          <p:cNvSpPr>
            <a:spLocks noGrp="1"/>
          </p:cNvSpPr>
          <p:nvPr/>
        </p:nvSpPr>
        <p:spPr>
          <a:xfrm>
            <a:off x="1" y="4939309"/>
            <a:ext cx="6840014" cy="204192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1" name="标题 20">
            <a:extLst>
              <a:ext uri="{FF2B5EF4-FFF2-40B4-BE49-F238E27FC236}">
                <a16:creationId xmlns:a16="http://schemas.microsoft.com/office/drawing/2014/main" id="{F0A5FC05-514E-B29E-DCB7-8EBC41822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1425" y="180975"/>
            <a:ext cx="4610100" cy="552450"/>
          </a:xfr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>
                <a:solidFill>
                  <a:srgbClr val="C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C00000"/>
                </a:solidFill>
                <a:latin typeface="宋体"/>
                <a:ea typeface="宋体"/>
                <a:cs typeface="宋体"/>
              </a:rPr>
              <a:t>运行 Launch 与传入参数</a:t>
            </a:r>
          </a:p>
        </p:txBody>
      </p:sp>
      <p:sp>
        <p:nvSpPr>
          <p:cNvPr id="26" name="slide-number">
            <a:extLst>
              <a:ext uri="{FF2B5EF4-FFF2-40B4-BE49-F238E27FC236}">
                <a16:creationId xmlns:a16="http://schemas.microsoft.com/office/drawing/2014/main" id="{CC8C3C19-5C60-4C98-8B18-1887E7C937C7}"/>
              </a:ext>
            </a:extLst>
          </p:cNvPr>
          <p:cNvSpPr>
            <a:spLocks noGrp="1"/>
          </p:cNvSpPr>
          <p:nvPr/>
        </p:nvSpPr>
        <p:spPr>
          <a:xfrm>
            <a:off x="8562975" y="4962525"/>
            <a:ext cx="36195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100" name="revision-44">
            <a:extLst>
              <a:ext uri="{FF2B5EF4-FFF2-40B4-BE49-F238E27FC236}">
                <a16:creationId xmlns:a16="http://schemas.microsoft.com/office/drawing/2014/main" id="{759C5739-6F12-4A92-A735-F0BD403C40BA}"/>
              </a:ext>
            </a:extLst>
          </p:cNvPr>
          <p:cNvSpPr>
            <a:spLocks noGrp="1"/>
          </p:cNvSpPr>
          <p:nvPr/>
        </p:nvSpPr>
        <p:spPr>
          <a:xfrm>
            <a:off x="476250" y="1028700"/>
            <a:ext cx="8191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一次启动两个节点</a:t>
            </a:r>
          </a:p>
        </p:txBody>
      </p:sp>
      <p:sp>
        <p:nvSpPr>
          <p:cNvPr id="101" name="revision-45">
            <a:extLst>
              <a:ext uri="{FF2B5EF4-FFF2-40B4-BE49-F238E27FC236}">
                <a16:creationId xmlns:a16="http://schemas.microsoft.com/office/drawing/2014/main" id="{59C3B6C4-150F-491A-A9D7-826EF2A7D2C7}"/>
              </a:ext>
            </a:extLst>
          </p:cNvPr>
          <p:cNvSpPr>
            <a:spLocks noGrp="1"/>
          </p:cNvSpPr>
          <p:nvPr/>
        </p:nvSpPr>
        <p:spPr>
          <a:xfrm>
            <a:off x="476250" y="1504950"/>
            <a:ext cx="8191500" cy="542925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  <p:txBody>
          <a:bodyPr wrap="square" lIns="123825" tIns="104775" rIns="123825" bIns="104775" anchor="t">
            <a:noAutofit/>
          </a:bodyPr>
          <a:lstStyle/>
          <a:p>
            <a:pPr>
              <a:def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ros2 launch video_viewer demo.launch.py</a:t>
            </a:r>
          </a:p>
        </p:txBody>
      </p:sp>
      <p:sp>
        <p:nvSpPr>
          <p:cNvPr id="102" name="revision-46">
            <a:extLst>
              <a:ext uri="{FF2B5EF4-FFF2-40B4-BE49-F238E27FC236}">
                <a16:creationId xmlns:a16="http://schemas.microsoft.com/office/drawing/2014/main" id="{0B7A01F6-7C75-4343-8722-2050B1CCFB9A}"/>
              </a:ext>
            </a:extLst>
          </p:cNvPr>
          <p:cNvSpPr>
            <a:spLocks noGrp="1"/>
          </p:cNvSpPr>
          <p:nvPr/>
        </p:nvSpPr>
        <p:spPr>
          <a:xfrm>
            <a:off x="476250" y="2343150"/>
            <a:ext cx="8191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单独运行读取节点时，也可以更换视频和帧率</a:t>
            </a:r>
          </a:p>
        </p:txBody>
      </p:sp>
      <p:sp>
        <p:nvSpPr>
          <p:cNvPr id="103" name="revision-47">
            <a:extLst>
              <a:ext uri="{FF2B5EF4-FFF2-40B4-BE49-F238E27FC236}">
                <a16:creationId xmlns:a16="http://schemas.microsoft.com/office/drawing/2014/main" id="{0551C6BC-EA40-4A6A-BDE6-2E2C46E4BC20}"/>
              </a:ext>
            </a:extLst>
          </p:cNvPr>
          <p:cNvSpPr>
            <a:spLocks noGrp="1"/>
          </p:cNvSpPr>
          <p:nvPr/>
        </p:nvSpPr>
        <p:spPr>
          <a:xfrm>
            <a:off x="476250" y="2857500"/>
            <a:ext cx="8191500" cy="1057275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  <p:txBody>
          <a:bodyPr wrap="square" lIns="123825" tIns="104775" rIns="123825" bIns="104775" anchor="t">
            <a:noAutofit/>
          </a:bodyPr>
          <a:lstStyle/>
          <a:p>
            <a:pPr>
              <a:def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ros2 run video_reader videor_reader --ros-args \</a:t>
            </a:r>
          </a:p>
          <a:p>
            <a:pPr>
              <a:def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-p video_path:="/home/你的用户名/demo.mp4" \</a:t>
            </a:r>
          </a:p>
          <a:p>
            <a:pPr>
              <a:def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  -p fps:=5.0</a:t>
            </a:r>
          </a:p>
        </p:txBody>
      </p:sp>
      <p:sp>
        <p:nvSpPr>
          <p:cNvPr id="104" name="revision-48">
            <a:extLst>
              <a:ext uri="{FF2B5EF4-FFF2-40B4-BE49-F238E27FC236}">
                <a16:creationId xmlns:a16="http://schemas.microsoft.com/office/drawing/2014/main" id="{BC709559-7D56-4B28-BDF7-208552847724}"/>
              </a:ext>
            </a:extLst>
          </p:cNvPr>
          <p:cNvSpPr>
            <a:spLocks noGrp="1"/>
          </p:cNvSpPr>
          <p:nvPr/>
        </p:nvSpPr>
        <p:spPr>
          <a:xfrm>
            <a:off x="476250" y="4267200"/>
            <a:ext cx="8191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38" b="0">
                <a:solidFill>
                  <a:srgbClr val="646464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646464"/>
                </a:solidFill>
                <a:latin typeface="微软雅黑"/>
                <a:ea typeface="微软雅黑"/>
                <a:cs typeface="微软雅黑"/>
              </a:rPr>
              <a:t>两种方式分别运行。先停止旧节点，参数在重新启动后生效。</a:t>
            </a:r>
          </a:p>
        </p:txBody>
      </p:sp>
    </p:spTree>
    <p:extLst>
      <p:ext uri="{BB962C8B-B14F-4D97-AF65-F5344CB8AC3E}">
        <p14:creationId xmlns:p14="http://schemas.microsoft.com/office/powerpoint/2010/main" val="18753495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65" y="153233"/>
            <a:ext cx="395424" cy="40046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7E06F2D-D8C9-3DA4-4E34-C69B3526808D}"/>
              </a:ext>
            </a:extLst>
          </p:cNvPr>
          <p:cNvSpPr>
            <a:spLocks noGrp="1"/>
          </p:cNvSpPr>
          <p:nvPr/>
        </p:nvSpPr>
        <p:spPr>
          <a:xfrm>
            <a:off x="1403648" y="350819"/>
            <a:ext cx="1729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None/>
            </a:pPr>
            <a:r>
              <a:rPr sz="1050">
                <a:solidFill>
                  <a:prstClr val="black"/>
                </a:solidFill>
                <a:latin typeface="Charlemagne Std"/>
                <a:ea typeface="Charlemagne Std"/>
                <a:cs typeface="Charlemagne Std"/>
              </a:rPr>
              <a:t> BIT Dream Chaser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292859-8F3E-9CD6-1815-165CECBA1CCB}"/>
              </a:ext>
            </a:extLst>
          </p:cNvPr>
          <p:cNvSpPr>
            <a:spLocks noGrp="1"/>
          </p:cNvSpPr>
          <p:nvPr/>
        </p:nvSpPr>
        <p:spPr>
          <a:xfrm>
            <a:off x="796648" y="153232"/>
            <a:ext cx="2767240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EFEDCB-7BB4-117F-27DC-C535FCE6A36D}"/>
              </a:ext>
            </a:extLst>
          </p:cNvPr>
          <p:cNvSpPr>
            <a:spLocks noGrp="1"/>
          </p:cNvSpPr>
          <p:nvPr/>
        </p:nvSpPr>
        <p:spPr>
          <a:xfrm>
            <a:off x="8460432" y="167196"/>
            <a:ext cx="683568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E3F00F-EC0F-F6FA-F695-1FAA9383A0E8}"/>
              </a:ext>
            </a:extLst>
          </p:cNvPr>
          <p:cNvSpPr>
            <a:spLocks noGrp="1"/>
          </p:cNvSpPr>
          <p:nvPr/>
        </p:nvSpPr>
        <p:spPr>
          <a:xfrm flipV="1">
            <a:off x="6840015" y="4939227"/>
            <a:ext cx="2303986" cy="204273"/>
          </a:xfrm>
          <a:prstGeom prst="rect">
            <a:avLst/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DC43EF-7288-3D6D-2169-D2B946B2A102}"/>
              </a:ext>
            </a:extLst>
          </p:cNvPr>
          <p:cNvSpPr>
            <a:spLocks noGrp="1"/>
          </p:cNvSpPr>
          <p:nvPr/>
        </p:nvSpPr>
        <p:spPr>
          <a:xfrm>
            <a:off x="1" y="4939309"/>
            <a:ext cx="6840014" cy="204192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1" name="标题 20">
            <a:extLst>
              <a:ext uri="{FF2B5EF4-FFF2-40B4-BE49-F238E27FC236}">
                <a16:creationId xmlns:a16="http://schemas.microsoft.com/office/drawing/2014/main" id="{F0A5FC05-514E-B29E-DCB7-8EBC41822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1425" y="180975"/>
            <a:ext cx="4610100" cy="552450"/>
          </a:xfr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>
                <a:solidFill>
                  <a:srgbClr val="C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C00000"/>
                </a:solidFill>
                <a:latin typeface="宋体"/>
                <a:ea typeface="宋体"/>
                <a:cs typeface="宋体"/>
              </a:rPr>
              <a:t>修改显示节点：彩色转灰度</a:t>
            </a:r>
          </a:p>
        </p:txBody>
      </p:sp>
      <p:sp>
        <p:nvSpPr>
          <p:cNvPr id="26" name="slide-number">
            <a:extLst>
              <a:ext uri="{FF2B5EF4-FFF2-40B4-BE49-F238E27FC236}">
                <a16:creationId xmlns:a16="http://schemas.microsoft.com/office/drawing/2014/main" id="{CC8C3C19-5C60-4C98-8B18-1887E7C937C7}"/>
              </a:ext>
            </a:extLst>
          </p:cNvPr>
          <p:cNvSpPr>
            <a:spLocks noGrp="1"/>
          </p:cNvSpPr>
          <p:nvPr/>
        </p:nvSpPr>
        <p:spPr>
          <a:xfrm>
            <a:off x="8562975" y="4962525"/>
            <a:ext cx="36195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100" name="revision-49">
            <a:extLst>
              <a:ext uri="{FF2B5EF4-FFF2-40B4-BE49-F238E27FC236}">
                <a16:creationId xmlns:a16="http://schemas.microsoft.com/office/drawing/2014/main" id="{16DA587C-95E4-4394-ACE1-4EE3BA6AE319}"/>
              </a:ext>
            </a:extLst>
          </p:cNvPr>
          <p:cNvSpPr>
            <a:spLocks noGrp="1"/>
          </p:cNvSpPr>
          <p:nvPr/>
        </p:nvSpPr>
        <p:spPr>
          <a:xfrm>
            <a:off x="476250" y="981075"/>
            <a:ext cx="8191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在 video_viewer.cpp 的 on_image() 中替换显示代码。</a:t>
            </a:r>
          </a:p>
        </p:txBody>
      </p:sp>
      <p:sp>
        <p:nvSpPr>
          <p:cNvPr id="101" name="revision-50">
            <a:extLst>
              <a:ext uri="{FF2B5EF4-FFF2-40B4-BE49-F238E27FC236}">
                <a16:creationId xmlns:a16="http://schemas.microsoft.com/office/drawing/2014/main" id="{5C5356CA-F450-45CE-B1A5-39766213A324}"/>
              </a:ext>
            </a:extLst>
          </p:cNvPr>
          <p:cNvSpPr>
            <a:spLocks noGrp="1"/>
          </p:cNvSpPr>
          <p:nvPr/>
        </p:nvSpPr>
        <p:spPr>
          <a:xfrm>
            <a:off x="476250" y="1533525"/>
            <a:ext cx="8191500" cy="1057275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  <p:txBody>
          <a:bodyPr wrap="square" lIns="123825" tIns="104775" rIns="123825" bIns="104775" anchor="t">
            <a:noAutofit/>
          </a:bodyPr>
          <a:lstStyle/>
          <a:p>
            <a:pPr>
              <a:def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cv::Mat gray;</a:t>
            </a:r>
          </a:p>
          <a:p>
            <a:pPr>
              <a:def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cv::cvtColor(image-&gt;image, gray, cv::COLOR_BGR2GRAY);</a:t>
            </a:r>
          </a:p>
          <a:p>
            <a:pPr>
              <a:def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if (show_window_) { cv::imshow("ROS 2 video", gray); }</a:t>
            </a:r>
          </a:p>
        </p:txBody>
      </p:sp>
      <p:sp>
        <p:nvSpPr>
          <p:cNvPr id="102" name="revision-51">
            <a:extLst>
              <a:ext uri="{FF2B5EF4-FFF2-40B4-BE49-F238E27FC236}">
                <a16:creationId xmlns:a16="http://schemas.microsoft.com/office/drawing/2014/main" id="{B421B525-5D46-4DF2-A49F-8079C2B10141}"/>
              </a:ext>
            </a:extLst>
          </p:cNvPr>
          <p:cNvSpPr>
            <a:spLocks noGrp="1"/>
          </p:cNvSpPr>
          <p:nvPr/>
        </p:nvSpPr>
        <p:spPr>
          <a:xfrm>
            <a:off x="476250" y="2809875"/>
            <a:ext cx="8191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停止显示节点，重新编译并启动</a:t>
            </a:r>
          </a:p>
        </p:txBody>
      </p:sp>
      <p:sp>
        <p:nvSpPr>
          <p:cNvPr id="103" name="revision-52">
            <a:extLst>
              <a:ext uri="{FF2B5EF4-FFF2-40B4-BE49-F238E27FC236}">
                <a16:creationId xmlns:a16="http://schemas.microsoft.com/office/drawing/2014/main" id="{9709E245-3331-4639-9823-E4904AA1DCBC}"/>
              </a:ext>
            </a:extLst>
          </p:cNvPr>
          <p:cNvSpPr>
            <a:spLocks noGrp="1"/>
          </p:cNvSpPr>
          <p:nvPr/>
        </p:nvSpPr>
        <p:spPr>
          <a:xfrm>
            <a:off x="476250" y="3267075"/>
            <a:ext cx="8191500" cy="990600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  <p:txBody>
          <a:bodyPr wrap="square" lIns="123825" tIns="104775" rIns="123825" bIns="104775" anchor="t">
            <a:noAutofit/>
          </a:bodyPr>
          <a:lstStyle/>
          <a:p>
            <a:pPr>
              <a:def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colcon build --packages-select video_viewer</a:t>
            </a:r>
          </a:p>
          <a:p>
            <a:pPr>
              <a:def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source install/setup.bash</a:t>
            </a:r>
          </a:p>
          <a:p>
            <a:pPr>
              <a:def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F3F3F3"/>
                </a:solidFill>
                <a:latin typeface="Courier New"/>
                <a:ea typeface="Courier New"/>
                <a:cs typeface="Courier New"/>
              </a:rPr>
              <a:t>ros2 run video_viewer videor_viewer</a:t>
            </a:r>
          </a:p>
        </p:txBody>
      </p:sp>
      <p:sp>
        <p:nvSpPr>
          <p:cNvPr id="104" name="revision-53">
            <a:extLst>
              <a:ext uri="{FF2B5EF4-FFF2-40B4-BE49-F238E27FC236}">
                <a16:creationId xmlns:a16="http://schemas.microsoft.com/office/drawing/2014/main" id="{7897685D-E4FC-40F8-8F98-03B3CFB3002E}"/>
              </a:ext>
            </a:extLst>
          </p:cNvPr>
          <p:cNvSpPr>
            <a:spLocks noGrp="1"/>
          </p:cNvSpPr>
          <p:nvPr/>
        </p:nvSpPr>
        <p:spPr>
          <a:xfrm>
            <a:off x="476250" y="4267200"/>
            <a:ext cx="8191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38" b="0">
                <a:solidFill>
                  <a:srgbClr val="646464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646464"/>
                </a:solidFill>
                <a:latin typeface="微软雅黑"/>
                <a:ea typeface="微软雅黑"/>
                <a:cs typeface="微软雅黑"/>
              </a:rPr>
              <a:t>读取节点无需修改。显示变成灰度，但 /image_raw 仍然发布 bgr8 图像。</a:t>
            </a:r>
          </a:p>
        </p:txBody>
      </p:sp>
    </p:spTree>
    <p:extLst>
      <p:ext uri="{BB962C8B-B14F-4D97-AF65-F5344CB8AC3E}">
        <p14:creationId xmlns:p14="http://schemas.microsoft.com/office/powerpoint/2010/main" val="4988006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65" y="153233"/>
            <a:ext cx="395424" cy="40046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7E06F2D-D8C9-3DA4-4E34-C69B3526808D}"/>
              </a:ext>
            </a:extLst>
          </p:cNvPr>
          <p:cNvSpPr>
            <a:spLocks noGrp="1"/>
          </p:cNvSpPr>
          <p:nvPr/>
        </p:nvSpPr>
        <p:spPr>
          <a:xfrm>
            <a:off x="1403648" y="350819"/>
            <a:ext cx="1729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None/>
            </a:pPr>
            <a:r>
              <a:rPr sz="1050">
                <a:solidFill>
                  <a:prstClr val="black"/>
                </a:solidFill>
                <a:latin typeface="Charlemagne Std"/>
                <a:ea typeface="Charlemagne Std"/>
                <a:cs typeface="Charlemagne Std"/>
              </a:rPr>
              <a:t> BIT Dream Chaser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292859-8F3E-9CD6-1815-165CECBA1CCB}"/>
              </a:ext>
            </a:extLst>
          </p:cNvPr>
          <p:cNvSpPr>
            <a:spLocks noGrp="1"/>
          </p:cNvSpPr>
          <p:nvPr/>
        </p:nvSpPr>
        <p:spPr>
          <a:xfrm>
            <a:off x="796648" y="153232"/>
            <a:ext cx="2767240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EFEDCB-7BB4-117F-27DC-C535FCE6A36D}"/>
              </a:ext>
            </a:extLst>
          </p:cNvPr>
          <p:cNvSpPr>
            <a:spLocks noGrp="1"/>
          </p:cNvSpPr>
          <p:nvPr/>
        </p:nvSpPr>
        <p:spPr>
          <a:xfrm>
            <a:off x="8460432" y="167196"/>
            <a:ext cx="683568" cy="186269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E3F00F-EC0F-F6FA-F695-1FAA9383A0E8}"/>
              </a:ext>
            </a:extLst>
          </p:cNvPr>
          <p:cNvSpPr>
            <a:spLocks noGrp="1"/>
          </p:cNvSpPr>
          <p:nvPr/>
        </p:nvSpPr>
        <p:spPr>
          <a:xfrm flipV="1">
            <a:off x="6840015" y="4939227"/>
            <a:ext cx="2303986" cy="204273"/>
          </a:xfrm>
          <a:prstGeom prst="rect">
            <a:avLst/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DC43EF-7288-3D6D-2169-D2B946B2A102}"/>
              </a:ext>
            </a:extLst>
          </p:cNvPr>
          <p:cNvSpPr>
            <a:spLocks noGrp="1"/>
          </p:cNvSpPr>
          <p:nvPr/>
        </p:nvSpPr>
        <p:spPr>
          <a:xfrm>
            <a:off x="1" y="4939309"/>
            <a:ext cx="6840014" cy="204192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None/>
            </a:pPr>
            <a:endParaRPr sz="135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1" name="标题 20">
            <a:extLst>
              <a:ext uri="{FF2B5EF4-FFF2-40B4-BE49-F238E27FC236}">
                <a16:creationId xmlns:a16="http://schemas.microsoft.com/office/drawing/2014/main" id="{F0A5FC05-514E-B29E-DCB7-8EBC41822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1425" y="180975"/>
            <a:ext cx="4610100" cy="552450"/>
          </a:xfr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>
                <a:solidFill>
                  <a:srgbClr val="C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C00000"/>
                </a:solidFill>
                <a:latin typeface="宋体"/>
                <a:ea typeface="宋体"/>
                <a:cs typeface="宋体"/>
              </a:rPr>
              <a:t>常见问题的排查</a:t>
            </a:r>
          </a:p>
        </p:txBody>
      </p:sp>
      <p:sp>
        <p:nvSpPr>
          <p:cNvPr id="26" name="slide-number">
            <a:extLst>
              <a:ext uri="{FF2B5EF4-FFF2-40B4-BE49-F238E27FC236}">
                <a16:creationId xmlns:a16="http://schemas.microsoft.com/office/drawing/2014/main" id="{CC8C3C19-5C60-4C98-8B18-1887E7C937C7}"/>
              </a:ext>
            </a:extLst>
          </p:cNvPr>
          <p:cNvSpPr>
            <a:spLocks noGrp="1"/>
          </p:cNvSpPr>
          <p:nvPr/>
        </p:nvSpPr>
        <p:spPr>
          <a:xfrm>
            <a:off x="8562975" y="4962525"/>
            <a:ext cx="36195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graphicFrame>
        <p:nvGraphicFramePr>
          <p:cNvPr id="100" name="表格 99"/>
          <p:cNvGraphicFramePr/>
          <p:nvPr/>
        </p:nvGraphicFramePr>
        <p:xfrm>
          <a:off x="476250" y="1171575"/>
          <a:ext cx="8191500" cy="25527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现象</a:t>
                      </a:r>
                    </a:p>
                  </a:txBody>
                  <a:tcPr marL="95250" marR="95250" marT="57150" marB="57150"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检查内容</a:t>
                      </a:r>
                    </a:p>
                  </a:txBody>
                  <a:tcPr marL="95250" marR="95250" marT="57150" marB="57150"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找不到包或可执行程序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是否编译，是否 source install/setup.bash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无法打开默认视频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是否生成 demo.avi，之后是否重新编译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话题存在，但没有收帧日志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话题名、消息类型和 QoS 是否匹配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有收帧日志，没有显示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桌面环境、show_window 和窗口事件处理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1" name="revision-54">
            <a:extLst>
              <a:ext uri="{FF2B5EF4-FFF2-40B4-BE49-F238E27FC236}">
                <a16:creationId xmlns:a16="http://schemas.microsoft.com/office/drawing/2014/main" id="{B56EB3F3-C6BF-46F3-876C-F62A35BA18DC}"/>
              </a:ext>
            </a:extLst>
          </p:cNvPr>
          <p:cNvSpPr>
            <a:spLocks noGrp="1"/>
          </p:cNvSpPr>
          <p:nvPr/>
        </p:nvSpPr>
        <p:spPr>
          <a:xfrm>
            <a:off x="476250" y="3962400"/>
            <a:ext cx="8191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03864"/>
                </a:solidFill>
                <a:latin typeface="微软雅黑"/>
                <a:ea typeface="微软雅黑"/>
                <a:cs typeface="微软雅黑"/>
              </a:rPr>
              <a:t>先确认输入和通信正常，再检查图像处理代码。</a:t>
            </a:r>
          </a:p>
        </p:txBody>
      </p:sp>
    </p:spTree>
    <p:extLst>
      <p:ext uri="{BB962C8B-B14F-4D97-AF65-F5344CB8AC3E}">
        <p14:creationId xmlns:p14="http://schemas.microsoft.com/office/powerpoint/2010/main" val="1010824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3"/>
          <p:cNvPicPr>
            <a:picLocks noChangeAspect="1"/>
          </p:cNvPicPr>
          <p:nvPr/>
        </p:nvPicPr>
        <p:blipFill rotWithShape="1">
          <a:blip r:embed="rId3"/>
          <a:srcRect l="1483" t="6827" r="7404"/>
          <a:stretch/>
        </p:blipFill>
        <p:spPr>
          <a:xfrm>
            <a:off x="-1" y="0"/>
            <a:ext cx="9144001" cy="5194052"/>
          </a:xfrm>
          <a:prstGeom prst="rect">
            <a:avLst/>
          </a:prstGeom>
        </p:spPr>
      </p:pic>
      <p:sp>
        <p:nvSpPr>
          <p:cNvPr id="6" name="等腰三角形 5">
            <a:extLst>
              <a:ext uri="{FF2B5EF4-FFF2-40B4-BE49-F238E27FC236}">
                <a16:creationId xmlns:a16="http://schemas.microsoft.com/office/drawing/2014/main" id="{A2655CD6-122E-482B-B9F5-A5D171C5BD6E}"/>
              </a:ext>
            </a:extLst>
          </p:cNvPr>
          <p:cNvSpPr>
            <a:spLocks noGrp="1"/>
          </p:cNvSpPr>
          <p:nvPr/>
        </p:nvSpPr>
        <p:spPr>
          <a:xfrm rot="16200000" flipH="1">
            <a:off x="7802893" y="2077161"/>
            <a:ext cx="1710613" cy="971600"/>
          </a:xfrm>
          <a:prstGeom prst="triangle">
            <a:avLst/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五边形 7">
            <a:extLst>
              <a:ext uri="{FF2B5EF4-FFF2-40B4-BE49-F238E27FC236}">
                <a16:creationId xmlns:a16="http://schemas.microsoft.com/office/drawing/2014/main" id="{DB8D0D34-6B95-425A-90C1-A71E261C284D}"/>
              </a:ext>
            </a:extLst>
          </p:cNvPr>
          <p:cNvSpPr>
            <a:spLocks noGrp="1"/>
          </p:cNvSpPr>
          <p:nvPr/>
        </p:nvSpPr>
        <p:spPr>
          <a:xfrm>
            <a:off x="-1" y="0"/>
            <a:ext cx="5508104" cy="5194052"/>
          </a:xfrm>
          <a:prstGeom prst="homePlate">
            <a:avLst>
              <a:gd name="adj" fmla="val 21552"/>
            </a:avLst>
          </a:prstGeom>
          <a:solidFill>
            <a:schemeClr val="tx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A5B774-74E2-4C8F-A1DF-783C050ADAC7}"/>
              </a:ext>
            </a:extLst>
          </p:cNvPr>
          <p:cNvSpPr>
            <a:spLocks noGrp="1"/>
          </p:cNvSpPr>
          <p:nvPr/>
        </p:nvSpPr>
        <p:spPr>
          <a:xfrm>
            <a:off x="2627784" y="1400448"/>
            <a:ext cx="144016" cy="1008112"/>
          </a:xfrm>
          <a:prstGeom prst="rect">
            <a:avLst/>
          </a:prstGeom>
          <a:solidFill>
            <a:srgbClr val="D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78AB62-0DA6-41E5-AC93-94DC9DDAB96D}"/>
              </a:ext>
            </a:extLst>
          </p:cNvPr>
          <p:cNvSpPr>
            <a:spLocks noGrp="1"/>
          </p:cNvSpPr>
          <p:nvPr/>
        </p:nvSpPr>
        <p:spPr>
          <a:xfrm>
            <a:off x="2843808" y="1275606"/>
            <a:ext cx="203132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机器人队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Robotics  CLUB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Dream Chaser</a:t>
            </a: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DB41830F-1738-47AE-9B98-C8D1DEB59326}"/>
              </a:ext>
            </a:extLst>
          </p:cNvPr>
          <p:cNvSpPr>
            <a:spLocks noGrp="1"/>
          </p:cNvSpPr>
          <p:nvPr/>
        </p:nvSpPr>
        <p:spPr>
          <a:xfrm>
            <a:off x="351404" y="2571750"/>
            <a:ext cx="342850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193C1E-F1F1-40A7-8700-592C5F5EC432}"/>
              </a:ext>
            </a:extLst>
          </p:cNvPr>
          <p:cNvSpPr>
            <a:spLocks noGrp="1"/>
          </p:cNvSpPr>
          <p:nvPr/>
        </p:nvSpPr>
        <p:spPr>
          <a:xfrm>
            <a:off x="279368" y="2914460"/>
            <a:ext cx="2621280" cy="5791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感谢大家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倾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听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534BCE-341F-46F3-9CF3-2458331E1EA5}"/>
              </a:ext>
            </a:extLst>
          </p:cNvPr>
          <p:cNvSpPr>
            <a:spLocks noGrp="1"/>
          </p:cNvSpPr>
          <p:nvPr/>
        </p:nvSpPr>
        <p:spPr>
          <a:xfrm>
            <a:off x="279368" y="1057275"/>
            <a:ext cx="3190875" cy="1432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800" b="0">
                <a:solidFill>
                  <a:srgbClr val="FFFFFF"/>
                </a:solidFill>
                <a:latin typeface="Impact"/>
                <a:ea typeface="Impact"/>
                <a:cs typeface="Impact"/>
              </a:defRPr>
            </a:pPr>
            <a:r>
              <a:rPr kumimoji="0" sz="8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ea typeface="Impact"/>
                <a:cs typeface="Impact"/>
              </a:rPr>
              <a:t>2026</a:t>
            </a:r>
            <a:endParaRPr kumimoji="0" sz="8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/>
              <a:ea typeface="Impact"/>
              <a:cs typeface="Impac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DECC176-3D26-4AAB-9BE3-1E9FAFF87ED7}"/>
              </a:ext>
            </a:extLst>
          </p:cNvPr>
          <p:cNvSpPr>
            <a:spLocks noGrp="1"/>
          </p:cNvSpPr>
          <p:nvPr/>
        </p:nvSpPr>
        <p:spPr>
          <a:xfrm>
            <a:off x="293084" y="3876675"/>
            <a:ext cx="4191000" cy="617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问题交流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算法组视觉培训</a:t>
            </a:r>
            <a:endParaRPr kumimoji="0" sz="172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6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4522" y="2253001"/>
            <a:ext cx="629478" cy="63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3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3093</Words>
  <Application>Microsoft Office PowerPoint</Application>
  <DocSecurity>0</DocSecurity>
  <PresentationFormat>全屏显示(16:9)</PresentationFormat>
  <Paragraphs>406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Charlemagne Std</vt:lpstr>
      <vt:lpstr>等线</vt:lpstr>
      <vt:lpstr>等线 Light</vt:lpstr>
      <vt:lpstr>宋体</vt:lpstr>
      <vt:lpstr>微软雅黑</vt:lpstr>
      <vt:lpstr>Arial</vt:lpstr>
      <vt:lpstr>Calibri</vt:lpstr>
      <vt:lpstr>Courier New</vt:lpstr>
      <vt:lpstr>Impact</vt:lpstr>
      <vt:lpstr>Office 主题​​</vt:lpstr>
      <vt:lpstr>1_Office 主题​​</vt:lpstr>
      <vt:lpstr>PowerPoint 演示文稿</vt:lpstr>
      <vt:lpstr>目录</vt:lpstr>
      <vt:lpstr>PowerPoint 演示文稿</vt:lpstr>
      <vt:lpstr>常规框架面临的问题</vt:lpstr>
      <vt:lpstr>ROS2的优势</vt:lpstr>
      <vt:lpstr>常用工具省下重复工作</vt:lpstr>
      <vt:lpstr>PowerPoint 演示文稿</vt:lpstr>
      <vt:lpstr>创建一个package</vt:lpstr>
      <vt:lpstr>编译、加载，然后运行程序</vt:lpstr>
      <vt:lpstr>PowerPoint 演示文稿</vt:lpstr>
      <vt:lpstr>节点就是使用 ROS 接口的对象</vt:lpstr>
      <vt:lpstr>spin 让已登记的回调得到执行</vt:lpstr>
      <vt:lpstr>定时器控制视频读取</vt:lpstr>
      <vt:lpstr>订阅与回调函数</vt:lpstr>
      <vt:lpstr>回调函数的执行</vt:lpstr>
      <vt:lpstr>PowerPoint 演示文稿</vt:lpstr>
      <vt:lpstr>Topic 是节点间的数据接口</vt:lpstr>
      <vt:lpstr>cv_bridge 转换图像和消息</vt:lpstr>
      <vt:lpstr>QoS 设置消息的交付方式</vt:lpstr>
      <vt:lpstr>QoS 需要相互兼容</vt:lpstr>
      <vt:lpstr>Topic 的常用命令</vt:lpstr>
      <vt:lpstr>QoS 不匹配时的现象</vt:lpstr>
      <vt:lpstr>PowerPoint 演示文稿</vt:lpstr>
      <vt:lpstr>Launch 文件组织节点启动</vt:lpstr>
      <vt:lpstr>运行 Launch 与传入参数</vt:lpstr>
      <vt:lpstr>修改显示节点：彩色转灰度</vt:lpstr>
      <vt:lpstr>常见问题的排查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子皓 魏</cp:lastModifiedBy>
  <cp:revision>2</cp:revision>
  <dcterms:created xsi:type="dcterms:W3CDTF">2026-10-07T06:47:53Z</dcterms:created>
  <dcterms:modified xsi:type="dcterms:W3CDTF">2026-10-07T08:58:27Z</dcterms:modified>
</cp:coreProperties>
</file>